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59" r:id="rId1"/>
  </p:sldMasterIdLst>
  <p:notesMasterIdLst>
    <p:notesMasterId r:id="rId23"/>
  </p:notesMasterIdLst>
  <p:sldIdLst>
    <p:sldId id="256" r:id="rId2"/>
    <p:sldId id="257" r:id="rId3"/>
    <p:sldId id="258" r:id="rId4"/>
    <p:sldId id="263" r:id="rId5"/>
    <p:sldId id="264" r:id="rId6"/>
    <p:sldId id="265" r:id="rId7"/>
    <p:sldId id="266" r:id="rId8"/>
    <p:sldId id="259" r:id="rId9"/>
    <p:sldId id="269" r:id="rId10"/>
    <p:sldId id="274" r:id="rId11"/>
    <p:sldId id="267" r:id="rId12"/>
    <p:sldId id="268" r:id="rId13"/>
    <p:sldId id="260" r:id="rId14"/>
    <p:sldId id="261" r:id="rId15"/>
    <p:sldId id="262" r:id="rId16"/>
    <p:sldId id="270" r:id="rId17"/>
    <p:sldId id="271" r:id="rId18"/>
    <p:sldId id="276" r:id="rId19"/>
    <p:sldId id="275" r:id="rId20"/>
    <p:sldId id="272" r:id="rId21"/>
    <p:sldId id="273" r:id="rId22"/>
  </p:sldIdLst>
  <p:sldSz cx="15119350"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476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7EAA58-4EDA-4114-B047-75ABB572CC32}">
  <a:tblStyle styleId="{AE7EAA58-4EDA-4114-B047-75ABB572CC3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5EE82D6-AF98-40BB-A63E-5EA55E4C3481}"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26" autoAdjust="0"/>
    <p:restoredTop sz="93377" autoAdjust="0"/>
  </p:normalViewPr>
  <p:slideViewPr>
    <p:cSldViewPr snapToGrid="0">
      <p:cViewPr varScale="1">
        <p:scale>
          <a:sx n="93" d="100"/>
          <a:sy n="93" d="100"/>
        </p:scale>
        <p:origin x="2154" y="72"/>
      </p:cViewPr>
      <p:guideLst>
        <p:guide orient="horz" pos="3368"/>
        <p:guide pos="476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4762" y="685800"/>
            <a:ext cx="48492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1e36d61812_1_1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1e36d61812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67c7422a4_0_5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d67c7422a4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1703bccef0_0_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1703bcce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6b4128d45_0_8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16b4128d45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d67c7422a4_0_126: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d67c7422a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b-NO" dirty="0"/>
              <a:t>TLE 1: 0-6m</a:t>
            </a:r>
          </a:p>
          <a:p>
            <a:pPr marL="0" lvl="0" indent="0" algn="l" rtl="0">
              <a:spcBef>
                <a:spcPts val="0"/>
              </a:spcBef>
              <a:spcAft>
                <a:spcPts val="0"/>
              </a:spcAft>
              <a:buNone/>
            </a:pPr>
            <a:r>
              <a:rPr lang="nb-NO" dirty="0"/>
              <a:t>TLE 2:7-15m</a:t>
            </a:r>
          </a:p>
          <a:p>
            <a:pPr marL="0" lvl="0" indent="0" algn="l" rtl="0">
              <a:spcBef>
                <a:spcPts val="0"/>
              </a:spcBef>
              <a:spcAft>
                <a:spcPts val="0"/>
              </a:spcAft>
              <a:buNone/>
            </a:pPr>
            <a:r>
              <a:rPr lang="nb-NO" dirty="0"/>
              <a:t>TLE 3:16-30m</a:t>
            </a:r>
          </a:p>
          <a:p>
            <a:pPr marL="0" lvl="0" indent="0" algn="l" rtl="0">
              <a:spcBef>
                <a:spcPts val="0"/>
              </a:spcBef>
              <a:spcAft>
                <a:spcPts val="0"/>
              </a:spcAft>
              <a:buNone/>
            </a:pPr>
            <a:r>
              <a:rPr lang="nb-NO" dirty="0"/>
              <a:t>TLE 4:31-91m</a:t>
            </a:r>
          </a:p>
          <a:p>
            <a:pPr marL="0" lvl="0" indent="0" algn="l" rtl="0">
              <a:spcBef>
                <a:spcPts val="0"/>
              </a:spcBef>
              <a:spcAft>
                <a:spcPts val="0"/>
              </a:spcAft>
              <a:buNone/>
            </a:pPr>
            <a:r>
              <a:rPr lang="nb-NO" dirty="0"/>
              <a:t>TLE 5:92-305</a:t>
            </a:r>
          </a:p>
          <a:p>
            <a:pPr marL="0" lvl="0" indent="0" algn="l" rtl="0">
              <a:spcBef>
                <a:spcPts val="0"/>
              </a:spcBef>
              <a:spcAft>
                <a:spcPts val="0"/>
              </a:spcAft>
              <a:buNone/>
            </a:pPr>
            <a:r>
              <a:rPr lang="nb-NO" dirty="0"/>
              <a:t>TLE 6: &gt;305m</a:t>
            </a:r>
          </a:p>
          <a:p>
            <a:pPr marL="0" lvl="0" indent="0" algn="l" rtl="0">
              <a:spcBef>
                <a:spcPts val="0"/>
              </a:spcBef>
              <a:spcAft>
                <a:spcPts val="0"/>
              </a:spcAft>
              <a:buNone/>
            </a:pPr>
            <a:endParaRPr lang="nb-NO" dirty="0"/>
          </a:p>
          <a:p>
            <a:pPr marL="0" lvl="0" indent="0" algn="l" rtl="0">
              <a:spcBef>
                <a:spcPts val="0"/>
              </a:spcBef>
              <a:spcAft>
                <a:spcPts val="0"/>
              </a:spcAft>
              <a:buNone/>
            </a:pPr>
            <a:r>
              <a:rPr lang="nb-NO" dirty="0" err="1"/>
              <a:t>Warhead</a:t>
            </a:r>
            <a:r>
              <a:rPr lang="nb-NO" dirty="0"/>
              <a:t>: 500Ibs,</a:t>
            </a:r>
            <a:r>
              <a:rPr lang="nb-NO" baseline="0" dirty="0"/>
              <a:t> 1000Ibs, 2000Ibs</a:t>
            </a:r>
          </a:p>
          <a:p>
            <a:pPr marL="0" lvl="0" indent="0" algn="l" rtl="0">
              <a:spcBef>
                <a:spcPts val="0"/>
              </a:spcBef>
              <a:spcAft>
                <a:spcPts val="0"/>
              </a:spcAft>
              <a:buNone/>
            </a:pPr>
            <a:endParaRPr lang="nb-NO" baseline="0" dirty="0"/>
          </a:p>
          <a:p>
            <a:pPr marL="0" lvl="0" indent="0" algn="l" rtl="0">
              <a:spcBef>
                <a:spcPts val="0"/>
              </a:spcBef>
              <a:spcAft>
                <a:spcPts val="0"/>
              </a:spcAft>
              <a:buNone/>
            </a:pPr>
            <a:r>
              <a:rPr lang="nb-NO" baseline="0" dirty="0" err="1"/>
              <a:t>Guidance</a:t>
            </a:r>
            <a:r>
              <a:rPr lang="nb-NO" baseline="0" dirty="0"/>
              <a:t>: N/A, </a:t>
            </a:r>
            <a:r>
              <a:rPr lang="nb-NO" baseline="0" dirty="0" err="1"/>
              <a:t>Laserguided</a:t>
            </a:r>
            <a:r>
              <a:rPr lang="nb-NO" baseline="0" dirty="0"/>
              <a:t>, INS/GPS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6b4128d45_0_10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16b4128d45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b-NO" dirty="0"/>
              <a:t>CDE</a:t>
            </a:r>
            <a:r>
              <a:rPr lang="nb-NO" baseline="0" dirty="0"/>
              <a:t> 1: No </a:t>
            </a:r>
            <a:r>
              <a:rPr lang="nb-NO" baseline="0" dirty="0" err="1"/>
              <a:t>restriction</a:t>
            </a:r>
            <a:endParaRPr lang="nb-NO" baseline="0" dirty="0"/>
          </a:p>
          <a:p>
            <a:pPr marL="0" lvl="0" indent="0" algn="l" rtl="0">
              <a:spcBef>
                <a:spcPts val="0"/>
              </a:spcBef>
              <a:spcAft>
                <a:spcPts val="0"/>
              </a:spcAft>
              <a:buNone/>
            </a:pPr>
            <a:r>
              <a:rPr lang="nb-NO" baseline="0" dirty="0"/>
              <a:t>CDE 2: </a:t>
            </a:r>
            <a:r>
              <a:rPr lang="nb-NO" baseline="0" dirty="0" err="1"/>
              <a:t>Unitary</a:t>
            </a:r>
            <a:r>
              <a:rPr lang="nb-NO" baseline="0" dirty="0"/>
              <a:t> </a:t>
            </a:r>
            <a:r>
              <a:rPr lang="nb-NO" baseline="0" dirty="0" err="1"/>
              <a:t>warhead</a:t>
            </a:r>
            <a:r>
              <a:rPr lang="nb-NO" baseline="0" dirty="0"/>
              <a:t> </a:t>
            </a:r>
            <a:r>
              <a:rPr lang="nb-NO" baseline="0" dirty="0" err="1"/>
              <a:t>only</a:t>
            </a:r>
            <a:r>
              <a:rPr lang="nb-NO" baseline="0" dirty="0"/>
              <a:t> (</a:t>
            </a:r>
            <a:r>
              <a:rPr lang="nb-NO" baseline="0" dirty="0" err="1"/>
              <a:t>no</a:t>
            </a:r>
            <a:r>
              <a:rPr lang="nb-NO" baseline="0" dirty="0"/>
              <a:t> </a:t>
            </a:r>
            <a:r>
              <a:rPr lang="nb-NO" baseline="0" dirty="0" err="1"/>
              <a:t>cluster</a:t>
            </a:r>
            <a:r>
              <a:rPr lang="nb-NO" baseline="0" dirty="0"/>
              <a:t> </a:t>
            </a:r>
            <a:r>
              <a:rPr lang="nb-NO" baseline="0" dirty="0" err="1"/>
              <a:t>munition</a:t>
            </a:r>
            <a:r>
              <a:rPr lang="nb-NO" baseline="0" dirty="0"/>
              <a:t>), and FAH </a:t>
            </a:r>
            <a:r>
              <a:rPr lang="nb-NO" baseline="0" dirty="0" err="1"/>
              <a:t>restrictions</a:t>
            </a:r>
            <a:r>
              <a:rPr lang="nb-NO" baseline="0" dirty="0"/>
              <a:t> to </a:t>
            </a:r>
            <a:r>
              <a:rPr lang="nb-NO" baseline="0" dirty="0" err="1"/>
              <a:t>minimize</a:t>
            </a:r>
            <a:r>
              <a:rPr lang="nb-NO" baseline="0" dirty="0"/>
              <a:t> </a:t>
            </a:r>
            <a:r>
              <a:rPr lang="nb-NO" baseline="0" dirty="0" err="1"/>
              <a:t>collateral</a:t>
            </a:r>
            <a:r>
              <a:rPr lang="nb-NO" baseline="0" dirty="0"/>
              <a:t> </a:t>
            </a:r>
            <a:r>
              <a:rPr lang="nb-NO" baseline="0" dirty="0" err="1"/>
              <a:t>damage</a:t>
            </a:r>
            <a:endParaRPr lang="nb-NO" baseline="0" dirty="0"/>
          </a:p>
          <a:p>
            <a:pPr marL="0" lvl="0" indent="0" algn="l" rtl="0">
              <a:spcBef>
                <a:spcPts val="0"/>
              </a:spcBef>
              <a:spcAft>
                <a:spcPts val="0"/>
              </a:spcAft>
              <a:buNone/>
            </a:pPr>
            <a:r>
              <a:rPr lang="nb-NO" baseline="0" dirty="0"/>
              <a:t>CDE 3: PGM, </a:t>
            </a:r>
            <a:r>
              <a:rPr lang="nb-NO" baseline="0" dirty="0" err="1"/>
              <a:t>unitary</a:t>
            </a:r>
            <a:endParaRPr lang="nb-NO" baseline="0" dirty="0"/>
          </a:p>
          <a:p>
            <a:pPr marL="0" lvl="0" indent="0" algn="l" rtl="0">
              <a:spcBef>
                <a:spcPts val="0"/>
              </a:spcBef>
              <a:spcAft>
                <a:spcPts val="0"/>
              </a:spcAft>
              <a:buNone/>
            </a:pPr>
            <a:r>
              <a:rPr lang="nb-NO" baseline="0" dirty="0"/>
              <a:t>CDE 4: </a:t>
            </a:r>
            <a:r>
              <a:rPr lang="nb-NO" baseline="0" dirty="0" err="1"/>
              <a:t>Weaponeering</a:t>
            </a:r>
            <a:r>
              <a:rPr lang="nb-NO" baseline="0" dirty="0"/>
              <a:t> (</a:t>
            </a:r>
            <a:r>
              <a:rPr lang="nb-NO" baseline="0" dirty="0" err="1"/>
              <a:t>Fuze</a:t>
            </a:r>
            <a:r>
              <a:rPr lang="nb-NO" baseline="0" dirty="0"/>
              <a:t> setting, FAH, smallest </a:t>
            </a:r>
            <a:r>
              <a:rPr lang="nb-NO" baseline="0" dirty="0" err="1"/>
              <a:t>possible</a:t>
            </a:r>
            <a:r>
              <a:rPr lang="nb-NO" baseline="0" dirty="0"/>
              <a:t> bomb)</a:t>
            </a:r>
          </a:p>
          <a:p>
            <a:pPr marL="0" lvl="0" indent="0" algn="l" rtl="0">
              <a:spcBef>
                <a:spcPts val="0"/>
              </a:spcBef>
              <a:spcAft>
                <a:spcPts val="0"/>
              </a:spcAft>
              <a:buNone/>
            </a:pPr>
            <a:r>
              <a:rPr lang="nb-NO" baseline="0" dirty="0"/>
              <a:t>CDE 5: CJTF-HQ </a:t>
            </a:r>
            <a:r>
              <a:rPr lang="nb-NO" baseline="0" dirty="0" err="1"/>
              <a:t>approval</a:t>
            </a:r>
            <a:r>
              <a:rPr lang="nb-NO" baseline="0" dirty="0"/>
              <a:t> </a:t>
            </a:r>
            <a:r>
              <a:rPr lang="nb-NO" baseline="0" dirty="0" err="1"/>
              <a:t>needed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d67c7422a4_0_18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d67c7422a4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nb-NO" dirty="0"/>
              <a:t>Location </a:t>
            </a:r>
            <a:r>
              <a:rPr lang="nb-NO" dirty="0" err="1"/>
              <a:t>Example</a:t>
            </a:r>
            <a:r>
              <a:rPr lang="nb-NO" dirty="0"/>
              <a:t>: </a:t>
            </a:r>
            <a:r>
              <a:rPr lang="en-US" dirty="0"/>
              <a:t>247˚/ 680ft</a:t>
            </a:r>
            <a:r>
              <a:rPr lang="en-US" baseline="0" dirty="0"/>
              <a:t> from DPI D</a:t>
            </a:r>
            <a:endParaRPr lang="en-US" dirty="0"/>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16b4128d45_0_134: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16b4128d45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1703bccef0_0_30: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1703bccef0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6b4128d45_0_14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16b4128d45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16b4128d45_0_12: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16b4128d4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6b4128d45_0_27: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6b4128d4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16b4128d45_0_53: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16b4128d4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762" y="685800"/>
            <a:ext cx="48492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67c7422a4_0_35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d67c7422a4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d67c7422a4_0_238:notes"/>
          <p:cNvSpPr>
            <a:spLocks noGrp="1" noRot="1" noChangeAspect="1"/>
          </p:cNvSpPr>
          <p:nvPr>
            <p:ph type="sldImg" idx="2"/>
          </p:nvPr>
        </p:nvSpPr>
        <p:spPr>
          <a:xfrm>
            <a:off x="1004888" y="685800"/>
            <a:ext cx="4849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d67c7422a4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515423" y="1547778"/>
            <a:ext cx="14089200" cy="42669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a:endParaRPr/>
          </a:p>
        </p:txBody>
      </p:sp>
      <p:sp>
        <p:nvSpPr>
          <p:cNvPr id="11" name="Google Shape;11;p2"/>
          <p:cNvSpPr txBox="1">
            <a:spLocks noGrp="1"/>
          </p:cNvSpPr>
          <p:nvPr>
            <p:ph type="subTitle" idx="1"/>
          </p:nvPr>
        </p:nvSpPr>
        <p:spPr>
          <a:xfrm>
            <a:off x="515409" y="5891409"/>
            <a:ext cx="14089200" cy="1647600"/>
          </a:xfrm>
          <a:prstGeom prst="rect">
            <a:avLst/>
          </a:prstGeom>
        </p:spPr>
        <p:txBody>
          <a:bodyPr spcFirstLastPara="1" wrap="square" lIns="164125" tIns="164125" rIns="164125" bIns="164125" anchor="t" anchorCtr="0">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a:endParaRPr/>
          </a:p>
        </p:txBody>
      </p:sp>
      <p:sp>
        <p:nvSpPr>
          <p:cNvPr id="12" name="Google Shape;12;p2"/>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15409" y="4471058"/>
            <a:ext cx="14089200" cy="1749900"/>
          </a:xfrm>
          <a:prstGeom prst="rect">
            <a:avLst/>
          </a:prstGeom>
        </p:spPr>
        <p:txBody>
          <a:bodyPr spcFirstLastPara="1" wrap="square" lIns="164125" tIns="164125" rIns="164125" bIns="164125" anchor="ctr" anchorCtr="0">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a:endParaRPr/>
          </a:p>
        </p:txBody>
      </p:sp>
      <p:sp>
        <p:nvSpPr>
          <p:cNvPr id="15" name="Google Shape;15;p3"/>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18" name="Google Shape;18;p4"/>
          <p:cNvSpPr txBox="1">
            <a:spLocks noGrp="1"/>
          </p:cNvSpPr>
          <p:nvPr>
            <p:ph type="body" idx="1"/>
          </p:nvPr>
        </p:nvSpPr>
        <p:spPr>
          <a:xfrm>
            <a:off x="515409" y="2395696"/>
            <a:ext cx="14089200" cy="7101900"/>
          </a:xfrm>
          <a:prstGeom prst="rect">
            <a:avLst/>
          </a:prstGeom>
        </p:spPr>
        <p:txBody>
          <a:bodyPr spcFirstLastPara="1" wrap="square" lIns="164125" tIns="164125" rIns="164125" bIns="164125" anchor="t" anchorCtr="0">
            <a:normAutofit/>
          </a:bodyPr>
          <a:lstStyle>
            <a:lvl1pPr marL="457200" lvl="0" indent="-431800">
              <a:spcBef>
                <a:spcPts val="0"/>
              </a:spcBef>
              <a:spcAft>
                <a:spcPts val="0"/>
              </a:spcAft>
              <a:buSzPts val="3200"/>
              <a:buChar char="●"/>
              <a:defRPr/>
            </a:lvl1pPr>
            <a:lvl2pPr marL="914400" lvl="1" indent="-387350">
              <a:spcBef>
                <a:spcPts val="0"/>
              </a:spcBef>
              <a:spcAft>
                <a:spcPts val="0"/>
              </a:spcAft>
              <a:buSzPts val="2500"/>
              <a:buChar char="○"/>
              <a:defRPr/>
            </a:lvl2pPr>
            <a:lvl3pPr marL="1371600" lvl="2" indent="-387350">
              <a:spcBef>
                <a:spcPts val="0"/>
              </a:spcBef>
              <a:spcAft>
                <a:spcPts val="0"/>
              </a:spcAft>
              <a:buSzPts val="2500"/>
              <a:buChar char="■"/>
              <a:defRPr/>
            </a:lvl3pPr>
            <a:lvl4pPr marL="1828800" lvl="3" indent="-387350">
              <a:spcBef>
                <a:spcPts val="0"/>
              </a:spcBef>
              <a:spcAft>
                <a:spcPts val="0"/>
              </a:spcAft>
              <a:buSzPts val="2500"/>
              <a:buChar char="●"/>
              <a:defRPr/>
            </a:lvl4pPr>
            <a:lvl5pPr marL="2286000" lvl="4" indent="-387350">
              <a:spcBef>
                <a:spcPts val="0"/>
              </a:spcBef>
              <a:spcAft>
                <a:spcPts val="0"/>
              </a:spcAft>
              <a:buSzPts val="2500"/>
              <a:buChar char="○"/>
              <a:defRPr/>
            </a:lvl5pPr>
            <a:lvl6pPr marL="2743200" lvl="5" indent="-387350">
              <a:spcBef>
                <a:spcPts val="0"/>
              </a:spcBef>
              <a:spcAft>
                <a:spcPts val="0"/>
              </a:spcAft>
              <a:buSzPts val="2500"/>
              <a:buChar char="■"/>
              <a:defRPr/>
            </a:lvl6pPr>
            <a:lvl7pPr marL="3200400" lvl="6" indent="-387350">
              <a:spcBef>
                <a:spcPts val="0"/>
              </a:spcBef>
              <a:spcAft>
                <a:spcPts val="0"/>
              </a:spcAft>
              <a:buSzPts val="2500"/>
              <a:buChar char="●"/>
              <a:defRPr/>
            </a:lvl7pPr>
            <a:lvl8pPr marL="3657600" lvl="7" indent="-387350">
              <a:spcBef>
                <a:spcPts val="0"/>
              </a:spcBef>
              <a:spcAft>
                <a:spcPts val="0"/>
              </a:spcAft>
              <a:buSzPts val="2500"/>
              <a:buChar char="○"/>
              <a:defRPr/>
            </a:lvl8pPr>
            <a:lvl9pPr marL="4114800" lvl="8" indent="-387350">
              <a:spcBef>
                <a:spcPts val="0"/>
              </a:spcBef>
              <a:spcAft>
                <a:spcPts val="0"/>
              </a:spcAft>
              <a:buSzPts val="2500"/>
              <a:buChar char="■"/>
              <a:defRPr/>
            </a:lvl9pPr>
          </a:lstStyle>
          <a:p>
            <a:endParaRPr/>
          </a:p>
        </p:txBody>
      </p:sp>
      <p:sp>
        <p:nvSpPr>
          <p:cNvPr id="19" name="Google Shape;19;p4"/>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22" name="Google Shape;22;p5"/>
          <p:cNvSpPr txBox="1">
            <a:spLocks noGrp="1"/>
          </p:cNvSpPr>
          <p:nvPr>
            <p:ph type="body" idx="1"/>
          </p:nvPr>
        </p:nvSpPr>
        <p:spPr>
          <a:xfrm>
            <a:off x="515409" y="2395696"/>
            <a:ext cx="6614100" cy="7101900"/>
          </a:xfrm>
          <a:prstGeom prst="rect">
            <a:avLst/>
          </a:prstGeom>
        </p:spPr>
        <p:txBody>
          <a:bodyPr spcFirstLastPara="1" wrap="square" lIns="164125" tIns="164125" rIns="164125" bIns="164125" anchor="t" anchorCtr="0">
            <a:normAutofit/>
          </a:bodyPr>
          <a:lstStyle>
            <a:lvl1pPr marL="457200" lvl="0" indent="-387350">
              <a:spcBef>
                <a:spcPts val="0"/>
              </a:spcBef>
              <a:spcAft>
                <a:spcPts val="0"/>
              </a:spcAft>
              <a:buSzPts val="2500"/>
              <a:buChar char="●"/>
              <a:defRPr sz="25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23" name="Google Shape;23;p5"/>
          <p:cNvSpPr txBox="1">
            <a:spLocks noGrp="1"/>
          </p:cNvSpPr>
          <p:nvPr>
            <p:ph type="body" idx="2"/>
          </p:nvPr>
        </p:nvSpPr>
        <p:spPr>
          <a:xfrm>
            <a:off x="7990583" y="2395696"/>
            <a:ext cx="6614100" cy="7101900"/>
          </a:xfrm>
          <a:prstGeom prst="rect">
            <a:avLst/>
          </a:prstGeom>
        </p:spPr>
        <p:txBody>
          <a:bodyPr spcFirstLastPara="1" wrap="square" lIns="164125" tIns="164125" rIns="164125" bIns="164125" anchor="t" anchorCtr="0">
            <a:normAutofit/>
          </a:bodyPr>
          <a:lstStyle>
            <a:lvl1pPr marL="457200" lvl="0" indent="-387350">
              <a:spcBef>
                <a:spcPts val="0"/>
              </a:spcBef>
              <a:spcAft>
                <a:spcPts val="0"/>
              </a:spcAft>
              <a:buSzPts val="2500"/>
              <a:buChar char="●"/>
              <a:defRPr sz="25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24" name="Google Shape;24;p5"/>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515409" y="925091"/>
            <a:ext cx="14089200" cy="1190400"/>
          </a:xfrm>
          <a:prstGeom prst="rect">
            <a:avLst/>
          </a:prstGeom>
        </p:spPr>
        <p:txBody>
          <a:bodyPr spcFirstLastPara="1" wrap="square" lIns="164125" tIns="164125" rIns="164125" bIns="164125" anchor="t" anchorCtr="0">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a:endParaRPr/>
          </a:p>
        </p:txBody>
      </p:sp>
      <p:sp>
        <p:nvSpPr>
          <p:cNvPr id="27" name="Google Shape;27;p6"/>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515409" y="1154948"/>
            <a:ext cx="4643100" cy="1570800"/>
          </a:xfrm>
          <a:prstGeom prst="rect">
            <a:avLst/>
          </a:prstGeom>
        </p:spPr>
        <p:txBody>
          <a:bodyPr spcFirstLastPara="1" wrap="square" lIns="164125" tIns="164125" rIns="164125" bIns="164125" anchor="b" anchorCtr="0">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a:endParaRPr/>
          </a:p>
        </p:txBody>
      </p:sp>
      <p:sp>
        <p:nvSpPr>
          <p:cNvPr id="30" name="Google Shape;30;p7"/>
          <p:cNvSpPr txBox="1">
            <a:spLocks noGrp="1"/>
          </p:cNvSpPr>
          <p:nvPr>
            <p:ph type="body" idx="1"/>
          </p:nvPr>
        </p:nvSpPr>
        <p:spPr>
          <a:xfrm>
            <a:off x="515409" y="2888617"/>
            <a:ext cx="4643100" cy="6609000"/>
          </a:xfrm>
          <a:prstGeom prst="rect">
            <a:avLst/>
          </a:prstGeom>
        </p:spPr>
        <p:txBody>
          <a:bodyPr spcFirstLastPara="1" wrap="square" lIns="164125" tIns="164125" rIns="164125" bIns="164125" anchor="t" anchorCtr="0">
            <a:normAutofit/>
          </a:bodyPr>
          <a:lstStyle>
            <a:lvl1pPr marL="457200" lvl="0" indent="-368300">
              <a:spcBef>
                <a:spcPts val="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31" name="Google Shape;31;p7"/>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810650" y="935745"/>
            <a:ext cx="10529400" cy="8503800"/>
          </a:xfrm>
          <a:prstGeom prst="rect">
            <a:avLst/>
          </a:prstGeom>
        </p:spPr>
        <p:txBody>
          <a:bodyPr spcFirstLastPara="1" wrap="square" lIns="164125" tIns="164125" rIns="164125" bIns="164125" anchor="ctr" anchorCtr="0">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a:endParaRPr/>
          </a:p>
        </p:txBody>
      </p:sp>
      <p:sp>
        <p:nvSpPr>
          <p:cNvPr id="34" name="Google Shape;34;p8"/>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spcFirstLastPara="1" wrap="square" lIns="164125" tIns="164125" rIns="164125" bIns="1641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439016" y="2563450"/>
            <a:ext cx="6688800" cy="30813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a:endParaRPr/>
          </a:p>
        </p:txBody>
      </p:sp>
      <p:sp>
        <p:nvSpPr>
          <p:cNvPr id="38" name="Google Shape;38;p9"/>
          <p:cNvSpPr txBox="1">
            <a:spLocks noGrp="1"/>
          </p:cNvSpPr>
          <p:nvPr>
            <p:ph type="subTitle" idx="1"/>
          </p:nvPr>
        </p:nvSpPr>
        <p:spPr>
          <a:xfrm>
            <a:off x="439016" y="5826865"/>
            <a:ext cx="6688800" cy="2567400"/>
          </a:xfrm>
          <a:prstGeom prst="rect">
            <a:avLst/>
          </a:prstGeom>
        </p:spPr>
        <p:txBody>
          <a:bodyPr spcFirstLastPara="1" wrap="square" lIns="164125" tIns="164125" rIns="164125" bIns="164125" anchor="t" anchorCtr="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9" name="Google Shape;39;p9"/>
          <p:cNvSpPr txBox="1">
            <a:spLocks noGrp="1"/>
          </p:cNvSpPr>
          <p:nvPr>
            <p:ph type="body" idx="2"/>
          </p:nvPr>
        </p:nvSpPr>
        <p:spPr>
          <a:xfrm>
            <a:off x="8167677" y="1505164"/>
            <a:ext cx="6344700" cy="7681200"/>
          </a:xfrm>
          <a:prstGeom prst="rect">
            <a:avLst/>
          </a:prstGeom>
        </p:spPr>
        <p:txBody>
          <a:bodyPr spcFirstLastPara="1" wrap="square" lIns="164125" tIns="164125" rIns="164125" bIns="164125" anchor="ctr" anchorCtr="0">
            <a:normAutofit/>
          </a:bodyPr>
          <a:lstStyle>
            <a:lvl1pPr marL="457200" lvl="0" indent="-431800">
              <a:spcBef>
                <a:spcPts val="0"/>
              </a:spcBef>
              <a:spcAft>
                <a:spcPts val="0"/>
              </a:spcAft>
              <a:buSzPts val="3200"/>
              <a:buChar char="●"/>
              <a:defRPr/>
            </a:lvl1pPr>
            <a:lvl2pPr marL="914400" lvl="1" indent="-387350">
              <a:spcBef>
                <a:spcPts val="0"/>
              </a:spcBef>
              <a:spcAft>
                <a:spcPts val="0"/>
              </a:spcAft>
              <a:buSzPts val="2500"/>
              <a:buChar char="○"/>
              <a:defRPr/>
            </a:lvl2pPr>
            <a:lvl3pPr marL="1371600" lvl="2" indent="-387350">
              <a:spcBef>
                <a:spcPts val="0"/>
              </a:spcBef>
              <a:spcAft>
                <a:spcPts val="0"/>
              </a:spcAft>
              <a:buSzPts val="2500"/>
              <a:buChar char="■"/>
              <a:defRPr/>
            </a:lvl3pPr>
            <a:lvl4pPr marL="1828800" lvl="3" indent="-387350">
              <a:spcBef>
                <a:spcPts val="0"/>
              </a:spcBef>
              <a:spcAft>
                <a:spcPts val="0"/>
              </a:spcAft>
              <a:buSzPts val="2500"/>
              <a:buChar char="●"/>
              <a:defRPr/>
            </a:lvl4pPr>
            <a:lvl5pPr marL="2286000" lvl="4" indent="-387350">
              <a:spcBef>
                <a:spcPts val="0"/>
              </a:spcBef>
              <a:spcAft>
                <a:spcPts val="0"/>
              </a:spcAft>
              <a:buSzPts val="2500"/>
              <a:buChar char="○"/>
              <a:defRPr/>
            </a:lvl5pPr>
            <a:lvl6pPr marL="2743200" lvl="5" indent="-387350">
              <a:spcBef>
                <a:spcPts val="0"/>
              </a:spcBef>
              <a:spcAft>
                <a:spcPts val="0"/>
              </a:spcAft>
              <a:buSzPts val="2500"/>
              <a:buChar char="■"/>
              <a:defRPr/>
            </a:lvl6pPr>
            <a:lvl7pPr marL="3200400" lvl="6" indent="-387350">
              <a:spcBef>
                <a:spcPts val="0"/>
              </a:spcBef>
              <a:spcAft>
                <a:spcPts val="0"/>
              </a:spcAft>
              <a:buSzPts val="2500"/>
              <a:buChar char="●"/>
              <a:defRPr/>
            </a:lvl7pPr>
            <a:lvl8pPr marL="3657600" lvl="7" indent="-387350">
              <a:spcBef>
                <a:spcPts val="0"/>
              </a:spcBef>
              <a:spcAft>
                <a:spcPts val="0"/>
              </a:spcAft>
              <a:buSzPts val="2500"/>
              <a:buChar char="○"/>
              <a:defRPr/>
            </a:lvl8pPr>
            <a:lvl9pPr marL="4114800" lvl="8" indent="-387350">
              <a:spcBef>
                <a:spcPts val="0"/>
              </a:spcBef>
              <a:spcAft>
                <a:spcPts val="0"/>
              </a:spcAft>
              <a:buSzPts val="2500"/>
              <a:buChar char="■"/>
              <a:defRPr/>
            </a:lvl9pPr>
          </a:lstStyle>
          <a:p>
            <a:endParaRPr/>
          </a:p>
        </p:txBody>
      </p:sp>
      <p:sp>
        <p:nvSpPr>
          <p:cNvPr id="40" name="Google Shape;40;p9"/>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515409" y="8794266"/>
            <a:ext cx="9919200" cy="1257900"/>
          </a:xfrm>
          <a:prstGeom prst="rect">
            <a:avLst/>
          </a:prstGeom>
        </p:spPr>
        <p:txBody>
          <a:bodyPr spcFirstLastPara="1" wrap="square" lIns="164125" tIns="164125" rIns="164125" bIns="164125" anchor="ctr" anchorCtr="0">
            <a:normAutofit/>
          </a:bodyPr>
          <a:lstStyle>
            <a:lvl1pPr marL="457200" lvl="0" indent="-228600">
              <a:lnSpc>
                <a:spcPct val="100000"/>
              </a:lnSpc>
              <a:spcBef>
                <a:spcPts val="0"/>
              </a:spcBef>
              <a:spcAft>
                <a:spcPts val="0"/>
              </a:spcAft>
              <a:buSzPts val="3200"/>
              <a:buNone/>
              <a:defRPr/>
            </a:lvl1pPr>
          </a:lstStyle>
          <a:p>
            <a:endParaRPr/>
          </a:p>
        </p:txBody>
      </p:sp>
      <p:sp>
        <p:nvSpPr>
          <p:cNvPr id="43" name="Google Shape;43;p10"/>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515409" y="2299346"/>
            <a:ext cx="14089200" cy="4081500"/>
          </a:xfrm>
          <a:prstGeom prst="rect">
            <a:avLst/>
          </a:prstGeom>
        </p:spPr>
        <p:txBody>
          <a:bodyPr spcFirstLastPara="1" wrap="square" lIns="164125" tIns="164125" rIns="164125" bIns="164125" anchor="b" anchorCtr="0">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a:spLocks noGrp="1"/>
          </p:cNvSpPr>
          <p:nvPr>
            <p:ph type="body" idx="1"/>
          </p:nvPr>
        </p:nvSpPr>
        <p:spPr>
          <a:xfrm>
            <a:off x="515409" y="6552657"/>
            <a:ext cx="14089200" cy="2703900"/>
          </a:xfrm>
          <a:prstGeom prst="rect">
            <a:avLst/>
          </a:prstGeom>
        </p:spPr>
        <p:txBody>
          <a:bodyPr spcFirstLastPara="1" wrap="square" lIns="164125" tIns="164125" rIns="164125" bIns="164125" anchor="t" anchorCtr="0">
            <a:normAutofit/>
          </a:bodyPr>
          <a:lstStyle>
            <a:lvl1pPr marL="457200" lvl="0" indent="-431800" algn="ctr">
              <a:spcBef>
                <a:spcPts val="0"/>
              </a:spcBef>
              <a:spcAft>
                <a:spcPts val="0"/>
              </a:spcAft>
              <a:buSzPts val="3200"/>
              <a:buChar char="●"/>
              <a:defRPr/>
            </a:lvl1pPr>
            <a:lvl2pPr marL="914400" lvl="1" indent="-387350" algn="ctr">
              <a:spcBef>
                <a:spcPts val="0"/>
              </a:spcBef>
              <a:spcAft>
                <a:spcPts val="0"/>
              </a:spcAft>
              <a:buSzPts val="2500"/>
              <a:buChar char="○"/>
              <a:defRPr/>
            </a:lvl2pPr>
            <a:lvl3pPr marL="1371600" lvl="2" indent="-387350" algn="ctr">
              <a:spcBef>
                <a:spcPts val="0"/>
              </a:spcBef>
              <a:spcAft>
                <a:spcPts val="0"/>
              </a:spcAft>
              <a:buSzPts val="2500"/>
              <a:buChar char="■"/>
              <a:defRPr/>
            </a:lvl3pPr>
            <a:lvl4pPr marL="1828800" lvl="3" indent="-387350" algn="ctr">
              <a:spcBef>
                <a:spcPts val="0"/>
              </a:spcBef>
              <a:spcAft>
                <a:spcPts val="0"/>
              </a:spcAft>
              <a:buSzPts val="2500"/>
              <a:buChar char="●"/>
              <a:defRPr/>
            </a:lvl4pPr>
            <a:lvl5pPr marL="2286000" lvl="4" indent="-387350" algn="ctr">
              <a:spcBef>
                <a:spcPts val="0"/>
              </a:spcBef>
              <a:spcAft>
                <a:spcPts val="0"/>
              </a:spcAft>
              <a:buSzPts val="2500"/>
              <a:buChar char="○"/>
              <a:defRPr/>
            </a:lvl5pPr>
            <a:lvl6pPr marL="2743200" lvl="5" indent="-387350" algn="ctr">
              <a:spcBef>
                <a:spcPts val="0"/>
              </a:spcBef>
              <a:spcAft>
                <a:spcPts val="0"/>
              </a:spcAft>
              <a:buSzPts val="2500"/>
              <a:buChar char="■"/>
              <a:defRPr/>
            </a:lvl6pPr>
            <a:lvl7pPr marL="3200400" lvl="6" indent="-387350" algn="ctr">
              <a:spcBef>
                <a:spcPts val="0"/>
              </a:spcBef>
              <a:spcAft>
                <a:spcPts val="0"/>
              </a:spcAft>
              <a:buSzPts val="2500"/>
              <a:buChar char="●"/>
              <a:defRPr/>
            </a:lvl7pPr>
            <a:lvl8pPr marL="3657600" lvl="7" indent="-387350" algn="ctr">
              <a:spcBef>
                <a:spcPts val="0"/>
              </a:spcBef>
              <a:spcAft>
                <a:spcPts val="0"/>
              </a:spcAft>
              <a:buSzPts val="2500"/>
              <a:buChar char="○"/>
              <a:defRPr/>
            </a:lvl8pPr>
            <a:lvl9pPr marL="4114800" lvl="8" indent="-387350" algn="ctr">
              <a:spcBef>
                <a:spcPts val="0"/>
              </a:spcBef>
              <a:spcAft>
                <a:spcPts val="0"/>
              </a:spcAft>
              <a:buSzPts val="2500"/>
              <a:buChar char="■"/>
              <a:defRPr/>
            </a:lvl9pPr>
          </a:lstStyle>
          <a:p>
            <a:endParaRPr/>
          </a:p>
        </p:txBody>
      </p:sp>
      <p:sp>
        <p:nvSpPr>
          <p:cNvPr id="47" name="Google Shape;47;p11"/>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4009576" y="9693616"/>
            <a:ext cx="907200" cy="818100"/>
          </a:xfrm>
          <a:prstGeom prst="rect">
            <a:avLst/>
          </a:prstGeom>
        </p:spPr>
        <p:txBody>
          <a:bodyPr spcFirstLastPara="1" wrap="square" lIns="164125" tIns="164125" rIns="164125" bIns="1641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15409" y="925091"/>
            <a:ext cx="14089200" cy="1190400"/>
          </a:xfrm>
          <a:prstGeom prst="rect">
            <a:avLst/>
          </a:prstGeom>
          <a:noFill/>
          <a:ln>
            <a:noFill/>
          </a:ln>
        </p:spPr>
        <p:txBody>
          <a:bodyPr spcFirstLastPara="1" wrap="square" lIns="164125" tIns="164125" rIns="164125" bIns="164125" anchor="t" anchorCtr="0">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a:endParaRPr/>
          </a:p>
        </p:txBody>
      </p:sp>
      <p:sp>
        <p:nvSpPr>
          <p:cNvPr id="7" name="Google Shape;7;p1"/>
          <p:cNvSpPr txBox="1">
            <a:spLocks noGrp="1"/>
          </p:cNvSpPr>
          <p:nvPr>
            <p:ph type="body" idx="1"/>
          </p:nvPr>
        </p:nvSpPr>
        <p:spPr>
          <a:xfrm>
            <a:off x="515409" y="2395696"/>
            <a:ext cx="14089200" cy="7101900"/>
          </a:xfrm>
          <a:prstGeom prst="rect">
            <a:avLst/>
          </a:prstGeom>
          <a:noFill/>
          <a:ln>
            <a:noFill/>
          </a:ln>
        </p:spPr>
        <p:txBody>
          <a:bodyPr spcFirstLastPara="1" wrap="square" lIns="164125" tIns="164125" rIns="164125" bIns="164125" anchor="t" anchorCtr="0">
            <a:normAutofit/>
          </a:bodyPr>
          <a:lstStyle>
            <a:lvl1pPr marL="457200" lvl="0" indent="-431800">
              <a:lnSpc>
                <a:spcPct val="115000"/>
              </a:lnSpc>
              <a:spcBef>
                <a:spcPts val="0"/>
              </a:spcBef>
              <a:spcAft>
                <a:spcPts val="0"/>
              </a:spcAft>
              <a:buClr>
                <a:schemeClr val="dk2"/>
              </a:buClr>
              <a:buSzPts val="3200"/>
              <a:buChar char="●"/>
              <a:defRPr sz="3200">
                <a:solidFill>
                  <a:schemeClr val="dk2"/>
                </a:solidFill>
              </a:defRPr>
            </a:lvl1pPr>
            <a:lvl2pPr marL="914400" lvl="1" indent="-387350">
              <a:lnSpc>
                <a:spcPct val="115000"/>
              </a:lnSpc>
              <a:spcBef>
                <a:spcPts val="0"/>
              </a:spcBef>
              <a:spcAft>
                <a:spcPts val="0"/>
              </a:spcAft>
              <a:buClr>
                <a:schemeClr val="dk2"/>
              </a:buClr>
              <a:buSzPts val="2500"/>
              <a:buChar char="○"/>
              <a:defRPr sz="2500">
                <a:solidFill>
                  <a:schemeClr val="dk2"/>
                </a:solidFill>
              </a:defRPr>
            </a:lvl2pPr>
            <a:lvl3pPr marL="1371600" lvl="2" indent="-387350">
              <a:lnSpc>
                <a:spcPct val="115000"/>
              </a:lnSpc>
              <a:spcBef>
                <a:spcPts val="0"/>
              </a:spcBef>
              <a:spcAft>
                <a:spcPts val="0"/>
              </a:spcAft>
              <a:buClr>
                <a:schemeClr val="dk2"/>
              </a:buClr>
              <a:buSzPts val="2500"/>
              <a:buChar char="■"/>
              <a:defRPr sz="2500">
                <a:solidFill>
                  <a:schemeClr val="dk2"/>
                </a:solidFill>
              </a:defRPr>
            </a:lvl3pPr>
            <a:lvl4pPr marL="1828800" lvl="3" indent="-387350">
              <a:lnSpc>
                <a:spcPct val="115000"/>
              </a:lnSpc>
              <a:spcBef>
                <a:spcPts val="0"/>
              </a:spcBef>
              <a:spcAft>
                <a:spcPts val="0"/>
              </a:spcAft>
              <a:buClr>
                <a:schemeClr val="dk2"/>
              </a:buClr>
              <a:buSzPts val="2500"/>
              <a:buChar char="●"/>
              <a:defRPr sz="2500">
                <a:solidFill>
                  <a:schemeClr val="dk2"/>
                </a:solidFill>
              </a:defRPr>
            </a:lvl4pPr>
            <a:lvl5pPr marL="2286000" lvl="4" indent="-387350">
              <a:lnSpc>
                <a:spcPct val="115000"/>
              </a:lnSpc>
              <a:spcBef>
                <a:spcPts val="0"/>
              </a:spcBef>
              <a:spcAft>
                <a:spcPts val="0"/>
              </a:spcAft>
              <a:buClr>
                <a:schemeClr val="dk2"/>
              </a:buClr>
              <a:buSzPts val="2500"/>
              <a:buChar char="○"/>
              <a:defRPr sz="2500">
                <a:solidFill>
                  <a:schemeClr val="dk2"/>
                </a:solidFill>
              </a:defRPr>
            </a:lvl5pPr>
            <a:lvl6pPr marL="2743200" lvl="5" indent="-387350">
              <a:lnSpc>
                <a:spcPct val="115000"/>
              </a:lnSpc>
              <a:spcBef>
                <a:spcPts val="0"/>
              </a:spcBef>
              <a:spcAft>
                <a:spcPts val="0"/>
              </a:spcAft>
              <a:buClr>
                <a:schemeClr val="dk2"/>
              </a:buClr>
              <a:buSzPts val="2500"/>
              <a:buChar char="■"/>
              <a:defRPr sz="2500">
                <a:solidFill>
                  <a:schemeClr val="dk2"/>
                </a:solidFill>
              </a:defRPr>
            </a:lvl6pPr>
            <a:lvl7pPr marL="3200400" lvl="6" indent="-387350">
              <a:lnSpc>
                <a:spcPct val="115000"/>
              </a:lnSpc>
              <a:spcBef>
                <a:spcPts val="0"/>
              </a:spcBef>
              <a:spcAft>
                <a:spcPts val="0"/>
              </a:spcAft>
              <a:buClr>
                <a:schemeClr val="dk2"/>
              </a:buClr>
              <a:buSzPts val="2500"/>
              <a:buChar char="●"/>
              <a:defRPr sz="2500">
                <a:solidFill>
                  <a:schemeClr val="dk2"/>
                </a:solidFill>
              </a:defRPr>
            </a:lvl7pPr>
            <a:lvl8pPr marL="3657600" lvl="7" indent="-387350">
              <a:lnSpc>
                <a:spcPct val="115000"/>
              </a:lnSpc>
              <a:spcBef>
                <a:spcPts val="0"/>
              </a:spcBef>
              <a:spcAft>
                <a:spcPts val="0"/>
              </a:spcAft>
              <a:buClr>
                <a:schemeClr val="dk2"/>
              </a:buClr>
              <a:buSzPts val="2500"/>
              <a:buChar char="○"/>
              <a:defRPr sz="2500">
                <a:solidFill>
                  <a:schemeClr val="dk2"/>
                </a:solidFill>
              </a:defRPr>
            </a:lvl8pPr>
            <a:lvl9pPr marL="4114800" lvl="8" indent="-387350">
              <a:lnSpc>
                <a:spcPct val="115000"/>
              </a:lnSpc>
              <a:spcBef>
                <a:spcPts val="0"/>
              </a:spcBef>
              <a:spcAft>
                <a:spcPts val="0"/>
              </a:spcAft>
              <a:buClr>
                <a:schemeClr val="dk2"/>
              </a:buClr>
              <a:buSzPts val="2500"/>
              <a:buChar char="■"/>
              <a:defRPr sz="2500">
                <a:solidFill>
                  <a:schemeClr val="dk2"/>
                </a:solidFill>
              </a:defRPr>
            </a:lvl9pPr>
          </a:lstStyle>
          <a:p>
            <a:endParaRPr/>
          </a:p>
        </p:txBody>
      </p:sp>
      <p:sp>
        <p:nvSpPr>
          <p:cNvPr id="8" name="Google Shape;8;p1"/>
          <p:cNvSpPr txBox="1">
            <a:spLocks noGrp="1"/>
          </p:cNvSpPr>
          <p:nvPr>
            <p:ph type="sldNum" idx="12"/>
          </p:nvPr>
        </p:nvSpPr>
        <p:spPr>
          <a:xfrm>
            <a:off x="14009576" y="9693616"/>
            <a:ext cx="907200" cy="818100"/>
          </a:xfrm>
          <a:prstGeom prst="rect">
            <a:avLst/>
          </a:prstGeom>
          <a:noFill/>
          <a:ln>
            <a:noFill/>
          </a:ln>
        </p:spPr>
        <p:txBody>
          <a:bodyPr spcFirstLastPara="1" wrap="square" lIns="164125" tIns="164125" rIns="164125" bIns="164125" anchor="ctr" anchorCtr="0">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marL="0" lvl="0" indent="0" algn="r" rtl="0">
              <a:spcBef>
                <a:spcPts val="0"/>
              </a:spcBef>
              <a:spcAft>
                <a:spcPts val="0"/>
              </a:spcAft>
              <a:buNone/>
            </a:pPr>
            <a:fld id="{00000000-1234-1234-1234-123412341234}" type="slidenum">
              <a:rPr lang="fr"/>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hyperlink" Target="http://132virtualwing.org/" TargetMode="Externa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hyperlink" Target="http://132virtualwing.org/"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482600" y="2861100"/>
            <a:ext cx="12154800" cy="4969800"/>
          </a:xfrm>
          <a:prstGeom prst="rect">
            <a:avLst/>
          </a:prstGeom>
          <a:solidFill>
            <a:schemeClr val="lt1"/>
          </a:solidFill>
          <a:ln w="76200" cap="flat" cmpd="sng">
            <a:solidFill>
              <a:schemeClr val="dk1"/>
            </a:solidFill>
            <a:prstDash val="solid"/>
            <a:round/>
            <a:headEnd type="none" w="sm" len="sm"/>
            <a:tailEnd type="none" w="sm" len="sm"/>
          </a:ln>
          <a:effectLst>
            <a:outerShdw blurRad="57150" dist="285750" dir="2700000" algn="bl" rotWithShape="0">
              <a:srgbClr val="000000">
                <a:alpha val="50000"/>
              </a:srgbClr>
            </a:outerShdw>
          </a:effectLst>
        </p:spPr>
        <p:txBody>
          <a:bodyPr spcFirstLastPara="1" wrap="square" lIns="164125" tIns="164125" rIns="164125" bIns="164125" anchor="ctr" anchorCtr="0">
            <a:normAutofit/>
          </a:bodyPr>
          <a:lstStyle/>
          <a:p>
            <a:pPr marL="0" lvl="0" indent="0" algn="ctr" rtl="0">
              <a:spcBef>
                <a:spcPts val="0"/>
              </a:spcBef>
              <a:spcAft>
                <a:spcPts val="0"/>
              </a:spcAft>
              <a:buNone/>
            </a:pPr>
            <a:r>
              <a:rPr lang="fr" sz="6000" b="1" dirty="0"/>
              <a:t>TARGET FOLDER</a:t>
            </a:r>
            <a:endParaRPr sz="4000"/>
          </a:p>
          <a:p>
            <a:pPr marL="0" lvl="0" indent="0" algn="ctr" rtl="0">
              <a:spcBef>
                <a:spcPts val="0"/>
              </a:spcBef>
              <a:spcAft>
                <a:spcPts val="0"/>
              </a:spcAft>
              <a:buNone/>
            </a:pPr>
            <a:endParaRPr sz="4000"/>
          </a:p>
          <a:p>
            <a:pPr marL="0" lvl="0" indent="0" algn="ctr" rtl="0">
              <a:spcBef>
                <a:spcPts val="0"/>
              </a:spcBef>
              <a:spcAft>
                <a:spcPts val="0"/>
              </a:spcAft>
              <a:buNone/>
            </a:pPr>
            <a:r>
              <a:rPr lang="hu-HU" sz="4000"/>
              <a:t>SRNTGT088</a:t>
            </a:r>
            <a:br>
              <a:rPr lang="hu-HU" sz="4000"/>
            </a:br>
            <a:endParaRPr lang="hu-HU" sz="4000"/>
          </a:p>
          <a:p>
            <a:pPr marL="0" lvl="0" indent="0" algn="ctr" rtl="0">
              <a:spcBef>
                <a:spcPts val="0"/>
              </a:spcBef>
              <a:spcAft>
                <a:spcPts val="0"/>
              </a:spcAft>
              <a:buNone/>
            </a:pPr>
            <a:r>
              <a:rPr lang="en-US" sz="4000"/>
              <a:t>ARMY Fuel Storage (2nd Corps)</a:t>
            </a:r>
            <a:endParaRPr lang="hu-HU" sz="4000"/>
          </a:p>
        </p:txBody>
      </p:sp>
      <p:sp>
        <p:nvSpPr>
          <p:cNvPr id="55" name="Google Shape;55;p13"/>
          <p:cNvSpPr txBox="1"/>
          <p:nvPr/>
        </p:nvSpPr>
        <p:spPr>
          <a:xfrm>
            <a:off x="5966700" y="9901750"/>
            <a:ext cx="3186600" cy="614400"/>
          </a:xfrm>
          <a:prstGeom prst="rect">
            <a:avLst/>
          </a:prstGeom>
          <a:solidFill>
            <a:schemeClr val="lt1"/>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a:p>
            <a:pPr marL="0" lvl="0" indent="0" algn="ctr" rtl="0">
              <a:spcBef>
                <a:spcPts val="0"/>
              </a:spcBef>
              <a:spcAft>
                <a:spcPts val="0"/>
              </a:spcAft>
              <a:buNone/>
            </a:pPr>
            <a:r>
              <a:rPr lang="fr" b="1" dirty="0">
                <a:solidFill>
                  <a:srgbClr val="FF0000"/>
                </a:solidFill>
              </a:rPr>
              <a:t> REL TO CJTF-23</a:t>
            </a:r>
            <a:endParaRPr b="1">
              <a:solidFill>
                <a:srgbClr val="FF0000"/>
              </a:solidFill>
            </a:endParaRPr>
          </a:p>
        </p:txBody>
      </p:sp>
      <p:sp>
        <p:nvSpPr>
          <p:cNvPr id="56" name="Google Shape;56;p13"/>
          <p:cNvSpPr txBox="1"/>
          <p:nvPr/>
        </p:nvSpPr>
        <p:spPr>
          <a:xfrm>
            <a:off x="5966700" y="175850"/>
            <a:ext cx="3186600" cy="614400"/>
          </a:xfrm>
          <a:prstGeom prst="rect">
            <a:avLst/>
          </a:prstGeom>
          <a:solidFill>
            <a:schemeClr val="lt1"/>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algn="ctr"/>
            <a:r>
              <a:rPr lang="en-US" b="1" dirty="0">
                <a:solidFill>
                  <a:srgbClr val="FF0000"/>
                </a:solidFill>
              </a:rPr>
              <a:t>OPAC CLASSIFIED</a:t>
            </a:r>
          </a:p>
          <a:p>
            <a:pPr lvl="0" algn="ctr"/>
            <a:r>
              <a:rPr lang="en-US" b="1" dirty="0">
                <a:solidFill>
                  <a:srgbClr val="FF0000"/>
                </a:solidFill>
              </a:rPr>
              <a:t> REL TO CJTF-23</a:t>
            </a:r>
          </a:p>
        </p:txBody>
      </p:sp>
      <p:pic>
        <p:nvPicPr>
          <p:cNvPr id="6" name="Picture 1" descr="D:\GIT PROJECTS\OPAT-background\Virtual Intelligence Service only logo.PNG"/>
          <p:cNvPicPr>
            <a:picLocks noChangeAspect="1" noChangeArrowheads="1"/>
          </p:cNvPicPr>
          <p:nvPr/>
        </p:nvPicPr>
        <p:blipFill>
          <a:blip r:embed="rId3"/>
          <a:srcRect/>
          <a:stretch>
            <a:fillRect/>
          </a:stretch>
        </p:blipFill>
        <p:spPr bwMode="auto">
          <a:xfrm>
            <a:off x="0" y="0"/>
            <a:ext cx="2225675" cy="195897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4" name="Kép 3">
            <a:extLst>
              <a:ext uri="{FF2B5EF4-FFF2-40B4-BE49-F238E27FC236}">
                <a16:creationId xmlns:a16="http://schemas.microsoft.com/office/drawing/2014/main" id="{D7D4D60A-5436-41BD-B16C-A3E2D5779F7C}"/>
              </a:ext>
            </a:extLst>
          </p:cNvPr>
          <p:cNvPicPr>
            <a:picLocks noChangeAspect="1"/>
          </p:cNvPicPr>
          <p:nvPr/>
        </p:nvPicPr>
        <p:blipFill>
          <a:blip r:embed="rId3"/>
          <a:stretch>
            <a:fillRect/>
          </a:stretch>
        </p:blipFill>
        <p:spPr>
          <a:xfrm>
            <a:off x="-46719" y="2219796"/>
            <a:ext cx="15119350" cy="8075201"/>
          </a:xfrm>
          <a:prstGeom prst="rect">
            <a:avLst/>
          </a:prstGeom>
        </p:spPr>
      </p:pic>
      <p:graphicFrame>
        <p:nvGraphicFramePr>
          <p:cNvPr id="62" name="Google Shape;62;p14"/>
          <p:cNvGraphicFramePr/>
          <p:nvPr>
            <p:extLst>
              <p:ext uri="{D42A27DB-BD31-4B8C-83A1-F6EECF244321}">
                <p14:modId xmlns:p14="http://schemas.microsoft.com/office/powerpoint/2010/main" val="3751748317"/>
              </p:ext>
            </p:extLst>
          </p:nvPr>
        </p:nvGraphicFramePr>
        <p:xfrm>
          <a:off x="1" y="0"/>
          <a:ext cx="15101949" cy="10722684"/>
        </p:xfrm>
        <a:graphic>
          <a:graphicData uri="http://schemas.openxmlformats.org/drawingml/2006/table">
            <a:tbl>
              <a:tblPr>
                <a:noFill/>
                <a:tableStyleId>{AE7EAA58-4EDA-4114-B047-75ABB572CC32}</a:tableStyleId>
              </a:tblPr>
              <a:tblGrid>
                <a:gridCol w="1966827">
                  <a:extLst>
                    <a:ext uri="{9D8B030D-6E8A-4147-A177-3AD203B41FA5}">
                      <a16:colId xmlns:a16="http://schemas.microsoft.com/office/drawing/2014/main" val="20000"/>
                    </a:ext>
                  </a:extLst>
                </a:gridCol>
                <a:gridCol w="5325303">
                  <a:extLst>
                    <a:ext uri="{9D8B030D-6E8A-4147-A177-3AD203B41FA5}">
                      <a16:colId xmlns:a16="http://schemas.microsoft.com/office/drawing/2014/main" val="20001"/>
                    </a:ext>
                  </a:extLst>
                </a:gridCol>
                <a:gridCol w="1793715">
                  <a:extLst>
                    <a:ext uri="{9D8B030D-6E8A-4147-A177-3AD203B41FA5}">
                      <a16:colId xmlns:a16="http://schemas.microsoft.com/office/drawing/2014/main" val="20002"/>
                    </a:ext>
                  </a:extLst>
                </a:gridCol>
                <a:gridCol w="6016104">
                  <a:extLst>
                    <a:ext uri="{9D8B030D-6E8A-4147-A177-3AD203B41FA5}">
                      <a16:colId xmlns:a16="http://schemas.microsoft.com/office/drawing/2014/main" val="20003"/>
                    </a:ext>
                  </a:extLst>
                </a:gridCol>
              </a:tblGrid>
              <a:tr h="1066379">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hu-HU" sz="2000" b="1"/>
                        <a:t>SRNTGT088 - </a:t>
                      </a:r>
                      <a:r>
                        <a:rPr lang="en-US" sz="2000" b="1"/>
                        <a:t>ARMY Fuel Storage (2nd Corps)</a:t>
                      </a:r>
                      <a:endParaRPr lang="hu-HU" sz="2000" b="1"/>
                    </a:p>
                    <a:p>
                      <a:pPr marL="0" lvl="0" indent="0" algn="l" rtl="0">
                        <a:spcBef>
                          <a:spcPts val="0"/>
                        </a:spcBef>
                        <a:spcAft>
                          <a:spcPts val="0"/>
                        </a:spcAft>
                        <a:buNone/>
                      </a:pPr>
                      <a:r>
                        <a:rPr lang="fr" sz="2000" b="1"/>
                        <a:t>JOINT </a:t>
                      </a:r>
                      <a:r>
                        <a:rPr lang="fr" sz="2000" b="1" dirty="0"/>
                        <a:t>OPERATIONS GRAPHIC</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dirty="0"/>
                        <a:t>MAP</a:t>
                      </a:r>
                      <a:endParaRPr sz="2000" b="1"/>
                    </a:p>
                    <a:p>
                      <a:pPr marL="0" lvl="0" indent="0" algn="ctr" rtl="0">
                        <a:spcBef>
                          <a:spcPts val="0"/>
                        </a:spcBef>
                        <a:spcAft>
                          <a:spcPts val="0"/>
                        </a:spcAft>
                        <a:buNone/>
                      </a:pPr>
                      <a:r>
                        <a:rPr lang="fr" sz="2000" b="1" dirty="0"/>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76787">
                <a:tc vMerge="1">
                  <a:txBody>
                    <a:bodyPr/>
                    <a:lstStyle/>
                    <a:p>
                      <a:endParaRPr lang="nb-NO"/>
                    </a:p>
                  </a:txBody>
                  <a:tcPr/>
                </a:tc>
                <a:tc>
                  <a:txBody>
                    <a:bodyPr/>
                    <a:lstStyle/>
                    <a:p>
                      <a:pPr marL="0" lvl="0" indent="0" algn="l" rtl="0">
                        <a:spcBef>
                          <a:spcPts val="0"/>
                        </a:spcBef>
                        <a:spcAft>
                          <a:spcPts val="0"/>
                        </a:spcAft>
                        <a:buNone/>
                      </a:pPr>
                      <a:r>
                        <a:rPr lang="fr" sz="1500" b="1" dirty="0"/>
                        <a:t>BE</a:t>
                      </a:r>
                      <a:r>
                        <a:rPr lang="fr" sz="1500" b="1"/>
                        <a:t>: </a:t>
                      </a:r>
                      <a:r>
                        <a:rPr lang="hu-HU" sz="1500" b="1"/>
                        <a:t>SRNTGT088</a:t>
                      </a:r>
                      <a:r>
                        <a:rPr lang="fr" sz="1500" b="1"/>
                        <a:t>   </a:t>
                      </a:r>
                      <a:r>
                        <a:rPr lang="hu-HU" sz="1500" b="1"/>
                        <a:t>CATCODE: 7</a:t>
                      </a:r>
                      <a:endParaRPr sz="1500" b="1"/>
                    </a:p>
                    <a:p>
                      <a:pPr marL="0" lvl="0" indent="0" algn="l" rtl="0">
                        <a:spcBef>
                          <a:spcPts val="0"/>
                        </a:spcBef>
                        <a:spcAft>
                          <a:spcPts val="0"/>
                        </a:spcAft>
                        <a:buNone/>
                      </a:pPr>
                      <a:r>
                        <a:rPr lang="fr" sz="1500" b="1" dirty="0"/>
                        <a:t>MIDB GEO</a:t>
                      </a:r>
                      <a:r>
                        <a:rPr lang="fr" sz="1500" b="1"/>
                        <a:t>: [</a:t>
                      </a:r>
                      <a:r>
                        <a:rPr lang="pt-BR" sz="1500" b="1"/>
                        <a:t>N 69 26.053 E 030 54.534</a:t>
                      </a:r>
                      <a:r>
                        <a:rPr lang="fr" sz="1500" b="1"/>
                        <a:t>]</a:t>
                      </a:r>
                      <a:endParaRPr sz="1500" b="1"/>
                    </a:p>
                    <a:p>
                      <a:pPr marL="0" lvl="0" indent="0" algn="l" rtl="0">
                        <a:spcBef>
                          <a:spcPts val="0"/>
                        </a:spcBef>
                        <a:spcAft>
                          <a:spcPts val="0"/>
                        </a:spcAft>
                        <a:buNone/>
                      </a:pPr>
                      <a:r>
                        <a:rPr lang="nb-NO" sz="1500" b="1" dirty="0"/>
                        <a:t>ICOD: 2011-07-01</a:t>
                      </a:r>
                      <a:r>
                        <a:rPr lang="nb-NO" sz="1500" b="1" baseline="0" dirty="0"/>
                        <a:t> </a:t>
                      </a:r>
                      <a:r>
                        <a:rPr lang="nb-NO" sz="1500" b="1" dirty="0"/>
                        <a:t>DOI: 2011-05-12</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548647">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63" name="Google Shape;63;p14"/>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sp>
        <p:nvSpPr>
          <p:cNvPr id="64" name="Google Shape;64;p14"/>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cxnSp>
        <p:nvCxnSpPr>
          <p:cNvPr id="65" name="Google Shape;65;p14"/>
          <p:cNvCxnSpPr/>
          <p:nvPr/>
        </p:nvCxnSpPr>
        <p:spPr>
          <a:xfrm rot="10800000">
            <a:off x="13999925" y="2400964"/>
            <a:ext cx="17400" cy="1080000"/>
          </a:xfrm>
          <a:prstGeom prst="straightConnector1">
            <a:avLst/>
          </a:prstGeom>
          <a:noFill/>
          <a:ln w="38100" cap="flat" cmpd="sng">
            <a:solidFill>
              <a:schemeClr val="dk1"/>
            </a:solidFill>
            <a:prstDash val="solid"/>
            <a:round/>
            <a:headEnd type="none" w="med" len="med"/>
            <a:tailEnd type="triangle" w="med" len="med"/>
          </a:ln>
        </p:spPr>
      </p:cxnSp>
      <p:sp>
        <p:nvSpPr>
          <p:cNvPr id="66" name="Google Shape;66;p14"/>
          <p:cNvSpPr txBox="1"/>
          <p:nvPr/>
        </p:nvSpPr>
        <p:spPr>
          <a:xfrm>
            <a:off x="14017325" y="29909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dk1"/>
                </a:solidFill>
              </a:rPr>
              <a:t>N</a:t>
            </a:r>
            <a:endParaRPr sz="3000" b="1">
              <a:solidFill>
                <a:schemeClr val="dk1"/>
              </a:solidFill>
            </a:endParaRPr>
          </a:p>
        </p:txBody>
      </p:sp>
      <p:sp>
        <p:nvSpPr>
          <p:cNvPr id="67" name="Google Shape;67;p14"/>
          <p:cNvSpPr txBox="1"/>
          <p:nvPr/>
        </p:nvSpPr>
        <p:spPr>
          <a:xfrm>
            <a:off x="2048811" y="5186214"/>
            <a:ext cx="2747376" cy="532338"/>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hu-HU" b="1">
                <a:solidFill>
                  <a:schemeClr val="dk1"/>
                </a:solidFill>
              </a:rPr>
              <a:t>SRNTGT088 - </a:t>
            </a:r>
            <a:r>
              <a:rPr lang="en-US" b="1">
                <a:solidFill>
                  <a:schemeClr val="dk1"/>
                </a:solidFill>
              </a:rPr>
              <a:t>ARMY Fuel Storage (2nd Corps)</a:t>
            </a:r>
            <a:endParaRPr lang="hu-HU" b="1">
              <a:solidFill>
                <a:schemeClr val="dk1"/>
              </a:solidFill>
            </a:endParaRPr>
          </a:p>
        </p:txBody>
      </p:sp>
      <p:cxnSp>
        <p:nvCxnSpPr>
          <p:cNvPr id="68" name="Google Shape;68;p14"/>
          <p:cNvCxnSpPr>
            <a:cxnSpLocks/>
            <a:stCxn id="67" idx="2"/>
            <a:endCxn id="69" idx="1"/>
          </p:cNvCxnSpPr>
          <p:nvPr/>
        </p:nvCxnSpPr>
        <p:spPr>
          <a:xfrm>
            <a:off x="3422499" y="5718552"/>
            <a:ext cx="2542220" cy="1126903"/>
          </a:xfrm>
          <a:prstGeom prst="straightConnector1">
            <a:avLst/>
          </a:prstGeom>
          <a:noFill/>
          <a:ln w="19050" cap="flat" cmpd="sng">
            <a:solidFill>
              <a:schemeClr val="dk1"/>
            </a:solidFill>
            <a:prstDash val="solid"/>
            <a:round/>
            <a:headEnd type="none" w="med" len="med"/>
            <a:tailEnd type="none" w="med" len="med"/>
          </a:ln>
        </p:spPr>
      </p:cxnSp>
      <p:sp>
        <p:nvSpPr>
          <p:cNvPr id="69" name="Google Shape;69;p14"/>
          <p:cNvSpPr/>
          <p:nvPr/>
        </p:nvSpPr>
        <p:spPr>
          <a:xfrm>
            <a:off x="5964719" y="6485455"/>
            <a:ext cx="720000" cy="720000"/>
          </a:xfrm>
          <a:prstGeom prst="plus">
            <a:avLst>
              <a:gd name="adj" fmla="val 40260"/>
            </a:avLst>
          </a:prstGeom>
          <a:noFill/>
          <a:ln w="28575" cap="flat" cmpd="sng">
            <a:solidFill>
              <a:schemeClr val="dk1"/>
            </a:solidFill>
            <a:prstDash val="solid"/>
            <a:round/>
            <a:headEnd type="none" w="sm" len="sm"/>
            <a:tailEnd type="none" w="sm" len="sm"/>
          </a:ln>
        </p:spPr>
        <p:txBody>
          <a:bodyPr spcFirstLastPara="1" wrap="square" lIns="0" tIns="0" rIns="0" bIns="126000" anchor="ctr" anchorCtr="0">
            <a:noAutofit/>
          </a:bodyPr>
          <a:lstStyle/>
          <a:p>
            <a:pPr marL="0" lvl="0" indent="0" algn="ctr" rtl="0">
              <a:spcBef>
                <a:spcPts val="0"/>
              </a:spcBef>
              <a:spcAft>
                <a:spcPts val="0"/>
              </a:spcAft>
              <a:buNone/>
            </a:pPr>
            <a:r>
              <a:rPr lang="fr" sz="2000" b="1">
                <a:solidFill>
                  <a:schemeClr val="dk1"/>
                </a:solidFill>
              </a:rPr>
              <a:t>.</a:t>
            </a:r>
            <a:endParaRPr sz="2000" b="1">
              <a:solidFill>
                <a:schemeClr val="dk1"/>
              </a:solidFill>
            </a:endParaRPr>
          </a:p>
        </p:txBody>
      </p:sp>
      <p:pic>
        <p:nvPicPr>
          <p:cNvPr id="11" name="Picture 3"/>
          <p:cNvPicPr>
            <a:picLocks noChangeAspect="1" noChangeArrowheads="1"/>
          </p:cNvPicPr>
          <p:nvPr/>
        </p:nvPicPr>
        <p:blipFill>
          <a:blip r:embed="rId4" cstate="screen"/>
          <a:srcRect b="514"/>
          <a:stretch>
            <a:fillRect/>
          </a:stretch>
        </p:blipFill>
        <p:spPr bwMode="auto">
          <a:xfrm>
            <a:off x="7268278" y="267463"/>
            <a:ext cx="2276553" cy="1888331"/>
          </a:xfrm>
          <a:prstGeom prst="rect">
            <a:avLst/>
          </a:prstGeom>
          <a:noFill/>
          <a:ln w="9525">
            <a:solidFill>
              <a:schemeClr val="tx1"/>
            </a:solidFill>
            <a:miter lim="800000"/>
            <a:headEnd/>
            <a:tailEnd/>
          </a:ln>
          <a:effectLst/>
        </p:spPr>
      </p:pic>
      <p:sp>
        <p:nvSpPr>
          <p:cNvPr id="12" name="Rektangel 11"/>
          <p:cNvSpPr/>
          <p:nvPr/>
        </p:nvSpPr>
        <p:spPr>
          <a:xfrm>
            <a:off x="8189179" y="971983"/>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 descr="D:\GIT PROJECTS\OPAT-background\Virtual Intelligence Service only logo.PNG"/>
          <p:cNvPicPr>
            <a:picLocks noChangeAspect="1" noChangeArrowheads="1"/>
          </p:cNvPicPr>
          <p:nvPr/>
        </p:nvPicPr>
        <p:blipFill>
          <a:blip r:embed="rId5"/>
          <a:srcRect/>
          <a:stretch>
            <a:fillRect/>
          </a:stretch>
        </p:blipFill>
        <p:spPr bwMode="auto">
          <a:xfrm>
            <a:off x="0" y="0"/>
            <a:ext cx="2225675" cy="1958975"/>
          </a:xfrm>
          <a:prstGeom prst="rect">
            <a:avLst/>
          </a:prstGeom>
          <a:noFill/>
        </p:spPr>
      </p:pic>
      <p:cxnSp>
        <p:nvCxnSpPr>
          <p:cNvPr id="16" name="Google Shape;65;p14"/>
          <p:cNvCxnSpPr/>
          <p:nvPr/>
        </p:nvCxnSpPr>
        <p:spPr>
          <a:xfrm rot="10800000">
            <a:off x="15909206" y="1772528"/>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17" name="Google Shape;66;p14"/>
          <p:cNvSpPr txBox="1"/>
          <p:nvPr/>
        </p:nvSpPr>
        <p:spPr>
          <a:xfrm>
            <a:off x="15926606" y="2362464"/>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bg1"/>
                </a:solidFill>
              </a:rPr>
              <a:t>N</a:t>
            </a:r>
            <a:endParaRPr sz="3000" b="1">
              <a:solidFill>
                <a:schemeClr val="bg1"/>
              </a:solidFill>
            </a:endParaRPr>
          </a:p>
        </p:txBody>
      </p:sp>
      <p:sp>
        <p:nvSpPr>
          <p:cNvPr id="18" name="Rektangel 17"/>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Kép 5">
            <a:extLst>
              <a:ext uri="{FF2B5EF4-FFF2-40B4-BE49-F238E27FC236}">
                <a16:creationId xmlns:a16="http://schemas.microsoft.com/office/drawing/2014/main" id="{0555F6DB-96AA-A8E7-66BB-CA5588FBE969}"/>
              </a:ext>
            </a:extLst>
          </p:cNvPr>
          <p:cNvPicPr>
            <a:picLocks noChangeAspect="1"/>
          </p:cNvPicPr>
          <p:nvPr/>
        </p:nvPicPr>
        <p:blipFill>
          <a:blip r:embed="rId6"/>
          <a:stretch>
            <a:fillRect/>
          </a:stretch>
        </p:blipFill>
        <p:spPr>
          <a:xfrm>
            <a:off x="11490383" y="8386878"/>
            <a:ext cx="1420044" cy="946696"/>
          </a:xfrm>
          <a:prstGeom prst="rect">
            <a:avLst/>
          </a:prstGeom>
        </p:spPr>
      </p:pic>
      <p:sp>
        <p:nvSpPr>
          <p:cNvPr id="8" name="Google Shape;64;p14">
            <a:extLst>
              <a:ext uri="{FF2B5EF4-FFF2-40B4-BE49-F238E27FC236}">
                <a16:creationId xmlns:a16="http://schemas.microsoft.com/office/drawing/2014/main" id="{40A3B51F-A437-FA12-8A40-13DBEFED6A23}"/>
              </a:ext>
            </a:extLst>
          </p:cNvPr>
          <p:cNvSpPr txBox="1"/>
          <p:nvPr/>
        </p:nvSpPr>
        <p:spPr>
          <a:xfrm>
            <a:off x="3186600" y="9818407"/>
            <a:ext cx="11932750" cy="873406"/>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en-US" sz="1800">
                <a:effectLst/>
                <a:latin typeface="Arial" panose="020B0604020202020204" pitchFamily="34" charset="0"/>
                <a:ea typeface="Times New Roman" panose="02020603050405020304" pitchFamily="18" charset="0"/>
                <a:cs typeface="Times New Roman" panose="02020603050405020304" pitchFamily="18" charset="0"/>
              </a:rPr>
              <a:t>The fuel storage are located far northwest, close to the border region in order to provide the Notian army with a forward fuel storage to shorten logistical lines if the Notian Army goes on any offensives in the region. Destruction of the facility means that Notian Army gets longer supply lines and bigger chance of traffic jams.</a:t>
            </a:r>
            <a:endParaRPr lang="hu-HU" sz="1800">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1026" name="Picture 2" descr="Flag of Finland | Meaning, Colors &amp; History | Britannica">
            <a:extLst>
              <a:ext uri="{FF2B5EF4-FFF2-40B4-BE49-F238E27FC236}">
                <a16:creationId xmlns:a16="http://schemas.microsoft.com/office/drawing/2014/main" id="{A045391F-9363-EE4E-C57D-E4A7EFE6BA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514" y="6923698"/>
            <a:ext cx="955414" cy="54595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emium Norway Flag | The Flag Shop">
            <a:extLst>
              <a:ext uri="{FF2B5EF4-FFF2-40B4-BE49-F238E27FC236}">
                <a16:creationId xmlns:a16="http://schemas.microsoft.com/office/drawing/2014/main" id="{74919869-1A1F-11E6-0708-DA53EBEBC6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3724" y="2940964"/>
            <a:ext cx="1079885" cy="532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 name="Kép 6" descr="A képen térkép, Légi fotó, Madártávlat, légi látható&#10;&#10;Automatikusan generált leírás">
            <a:extLst>
              <a:ext uri="{FF2B5EF4-FFF2-40B4-BE49-F238E27FC236}">
                <a16:creationId xmlns:a16="http://schemas.microsoft.com/office/drawing/2014/main" id="{A116A327-965D-233B-4940-4B6641B3465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20000" contrast="40000"/>
                    </a14:imgEffect>
                  </a14:imgLayer>
                </a14:imgProps>
              </a:ext>
            </a:extLst>
          </a:blip>
          <a:stretch>
            <a:fillRect/>
          </a:stretch>
        </p:blipFill>
        <p:spPr>
          <a:xfrm>
            <a:off x="0" y="1912035"/>
            <a:ext cx="15119350" cy="8504634"/>
          </a:xfrm>
          <a:prstGeom prst="rect">
            <a:avLst/>
          </a:prstGeom>
        </p:spPr>
      </p:pic>
      <p:graphicFrame>
        <p:nvGraphicFramePr>
          <p:cNvPr id="75" name="Google Shape;75;p15"/>
          <p:cNvGraphicFramePr/>
          <p:nvPr>
            <p:extLst>
              <p:ext uri="{D42A27DB-BD31-4B8C-83A1-F6EECF244321}">
                <p14:modId xmlns:p14="http://schemas.microsoft.com/office/powerpoint/2010/main" val="3101854854"/>
              </p:ext>
            </p:extLst>
          </p:nvPr>
        </p:nvGraphicFramePr>
        <p:xfrm>
          <a:off x="1" y="0"/>
          <a:ext cx="15123786" cy="10696535"/>
        </p:xfrm>
        <a:graphic>
          <a:graphicData uri="http://schemas.openxmlformats.org/drawingml/2006/table">
            <a:tbl>
              <a:tblPr>
                <a:noFill/>
                <a:tableStyleId>{AE7EAA58-4EDA-4114-B047-75ABB572CC32}</a:tableStyleId>
              </a:tblPr>
              <a:tblGrid>
                <a:gridCol w="2460091">
                  <a:extLst>
                    <a:ext uri="{9D8B030D-6E8A-4147-A177-3AD203B41FA5}">
                      <a16:colId xmlns:a16="http://schemas.microsoft.com/office/drawing/2014/main" val="20000"/>
                    </a:ext>
                  </a:extLst>
                </a:gridCol>
                <a:gridCol w="6660843">
                  <a:extLst>
                    <a:ext uri="{9D8B030D-6E8A-4147-A177-3AD203B41FA5}">
                      <a16:colId xmlns:a16="http://schemas.microsoft.com/office/drawing/2014/main" val="20001"/>
                    </a:ext>
                  </a:extLst>
                </a:gridCol>
                <a:gridCol w="2243561">
                  <a:extLst>
                    <a:ext uri="{9D8B030D-6E8A-4147-A177-3AD203B41FA5}">
                      <a16:colId xmlns:a16="http://schemas.microsoft.com/office/drawing/2014/main" val="20002"/>
                    </a:ext>
                  </a:extLst>
                </a:gridCol>
                <a:gridCol w="3759291">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hu-HU" sz="2000" b="1"/>
                        <a:t>SRNTGT088 - </a:t>
                      </a:r>
                      <a:r>
                        <a:rPr lang="en-US" sz="2000" b="1"/>
                        <a:t>ARMY Fuel Storage (2nd Corps)</a:t>
                      </a:r>
                      <a:endParaRPr lang="hu-HU" sz="2000" b="1"/>
                    </a:p>
                    <a:p>
                      <a:pPr marL="0" lvl="0" indent="0" algn="l" rtl="0">
                        <a:spcBef>
                          <a:spcPts val="0"/>
                        </a:spcBef>
                        <a:spcAft>
                          <a:spcPts val="0"/>
                        </a:spcAft>
                        <a:buNone/>
                      </a:pPr>
                      <a:r>
                        <a:rPr lang="fr" sz="2000" b="1"/>
                        <a:t>FACILITY </a:t>
                      </a:r>
                      <a:r>
                        <a:rPr lang="fr" sz="2000" b="1" dirty="0"/>
                        <a:t>OUTLINE GRAPHIC</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76" name="Google Shape;76;p15"/>
          <p:cNvGrpSpPr/>
          <p:nvPr/>
        </p:nvGrpSpPr>
        <p:grpSpPr>
          <a:xfrm>
            <a:off x="13999925" y="2400964"/>
            <a:ext cx="519600" cy="1236436"/>
            <a:chOff x="4246325" y="4458364"/>
            <a:chExt cx="519600" cy="1236436"/>
          </a:xfrm>
        </p:grpSpPr>
        <p:cxnSp>
          <p:nvCxnSpPr>
            <p:cNvPr id="77" name="Google Shape;77;p15"/>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78" name="Google Shape;78;p15"/>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sp>
        <p:nvSpPr>
          <p:cNvPr id="80" name="Google Shape;80;p15"/>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81" name="Google Shape;81;p15"/>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11" name="Picture 3"/>
          <p:cNvPicPr>
            <a:picLocks noChangeAspect="1" noChangeArrowheads="1"/>
          </p:cNvPicPr>
          <p:nvPr/>
        </p:nvPicPr>
        <p:blipFill>
          <a:blip r:embed="rId5"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12" name="Picture 1" descr="D:\GIT PROJECTS\OPAT-background\Virtual Intelligence Service only logo.PNG"/>
          <p:cNvPicPr>
            <a:picLocks noChangeAspect="1" noChangeArrowheads="1"/>
          </p:cNvPicPr>
          <p:nvPr/>
        </p:nvPicPr>
        <p:blipFill>
          <a:blip r:embed="rId6"/>
          <a:srcRect/>
          <a:stretch>
            <a:fillRect/>
          </a:stretch>
        </p:blipFill>
        <p:spPr bwMode="auto">
          <a:xfrm>
            <a:off x="0" y="0"/>
            <a:ext cx="2225675" cy="1958975"/>
          </a:xfrm>
          <a:prstGeom prst="rect">
            <a:avLst/>
          </a:prstGeom>
          <a:noFill/>
        </p:spPr>
      </p:pic>
      <p:cxnSp>
        <p:nvCxnSpPr>
          <p:cNvPr id="13" name="Google Shape;65;p14"/>
          <p:cNvCxnSpPr/>
          <p:nvPr/>
        </p:nvCxnSpPr>
        <p:spPr>
          <a:xfrm rot="10800000">
            <a:off x="15909206" y="1772528"/>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14" name="Google Shape;66;p14"/>
          <p:cNvSpPr txBox="1"/>
          <p:nvPr/>
        </p:nvSpPr>
        <p:spPr>
          <a:xfrm>
            <a:off x="15926606" y="2362464"/>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bg1"/>
                </a:solidFill>
              </a:rPr>
              <a:t>N</a:t>
            </a:r>
            <a:endParaRPr sz="3000" b="1">
              <a:solidFill>
                <a:schemeClr val="bg1"/>
              </a:solidFill>
            </a:endParaRPr>
          </a:p>
        </p:txBody>
      </p:sp>
      <p:sp>
        <p:nvSpPr>
          <p:cNvPr id="15" name="Rektangel 14"/>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67;p14">
            <a:extLst>
              <a:ext uri="{FF2B5EF4-FFF2-40B4-BE49-F238E27FC236}">
                <a16:creationId xmlns:a16="http://schemas.microsoft.com/office/drawing/2014/main" id="{D96B3160-D931-1F16-9DE7-42386A2400E2}"/>
              </a:ext>
            </a:extLst>
          </p:cNvPr>
          <p:cNvSpPr txBox="1"/>
          <p:nvPr/>
        </p:nvSpPr>
        <p:spPr>
          <a:xfrm>
            <a:off x="4352544" y="8284464"/>
            <a:ext cx="2405747" cy="677893"/>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hu-HU" b="1">
                <a:solidFill>
                  <a:schemeClr val="dk1"/>
                </a:solidFill>
              </a:rPr>
              <a:t>SRNTGT088 - </a:t>
            </a:r>
            <a:r>
              <a:rPr lang="en-US" b="1">
                <a:solidFill>
                  <a:schemeClr val="dk1"/>
                </a:solidFill>
              </a:rPr>
              <a:t>ARMY Fuel Storage (2nd Corps)</a:t>
            </a:r>
            <a:endParaRPr lang="hu-HU" b="1">
              <a:solidFill>
                <a:schemeClr val="dk1"/>
              </a:solidFill>
            </a:endParaRPr>
          </a:p>
        </p:txBody>
      </p:sp>
      <p:cxnSp>
        <p:nvCxnSpPr>
          <p:cNvPr id="4" name="Google Shape;165;p20">
            <a:extLst>
              <a:ext uri="{FF2B5EF4-FFF2-40B4-BE49-F238E27FC236}">
                <a16:creationId xmlns:a16="http://schemas.microsoft.com/office/drawing/2014/main" id="{F34A79D3-8AD2-17AE-2702-CF61E9AB796B}"/>
              </a:ext>
            </a:extLst>
          </p:cNvPr>
          <p:cNvCxnSpPr>
            <a:cxnSpLocks/>
            <a:stCxn id="5" idx="0"/>
          </p:cNvCxnSpPr>
          <p:nvPr/>
        </p:nvCxnSpPr>
        <p:spPr>
          <a:xfrm flipV="1">
            <a:off x="5555418" y="6762750"/>
            <a:ext cx="1778832" cy="1521714"/>
          </a:xfrm>
          <a:prstGeom prst="straightConnector1">
            <a:avLst/>
          </a:prstGeom>
          <a:noFill/>
          <a:ln w="19050" cap="flat" cmpd="sng">
            <a:solidFill>
              <a:schemeClr val="bg1"/>
            </a:solidFill>
            <a:prstDash val="solid"/>
            <a:round/>
            <a:headEnd type="none" w="med" len="med"/>
            <a:tailEnd type="none" w="med" len="med"/>
          </a:ln>
        </p:spPr>
      </p:cxnSp>
      <p:sp>
        <p:nvSpPr>
          <p:cNvPr id="2" name="Rektangel 11">
            <a:extLst>
              <a:ext uri="{FF2B5EF4-FFF2-40B4-BE49-F238E27FC236}">
                <a16:creationId xmlns:a16="http://schemas.microsoft.com/office/drawing/2014/main" id="{33E91BD7-1E2B-88C6-4EEB-370E2FB7AAFA}"/>
              </a:ext>
            </a:extLst>
          </p:cNvPr>
          <p:cNvSpPr/>
          <p:nvPr/>
        </p:nvSpPr>
        <p:spPr>
          <a:xfrm>
            <a:off x="10046554"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zabadkézi sokszög: alakzat 9">
            <a:extLst>
              <a:ext uri="{FF2B5EF4-FFF2-40B4-BE49-F238E27FC236}">
                <a16:creationId xmlns:a16="http://schemas.microsoft.com/office/drawing/2014/main" id="{EE93C5E3-A9D2-18A3-F971-458336D361E9}"/>
              </a:ext>
            </a:extLst>
          </p:cNvPr>
          <p:cNvSpPr/>
          <p:nvPr/>
        </p:nvSpPr>
        <p:spPr>
          <a:xfrm>
            <a:off x="7334250" y="6000750"/>
            <a:ext cx="666750" cy="866775"/>
          </a:xfrm>
          <a:custGeom>
            <a:avLst/>
            <a:gdLst>
              <a:gd name="connsiteX0" fmla="*/ 0 w 666750"/>
              <a:gd name="connsiteY0" fmla="*/ 762000 h 847725"/>
              <a:gd name="connsiteX1" fmla="*/ 66675 w 666750"/>
              <a:gd name="connsiteY1" fmla="*/ 0 h 847725"/>
              <a:gd name="connsiteX2" fmla="*/ 666750 w 666750"/>
              <a:gd name="connsiteY2" fmla="*/ 19050 h 847725"/>
              <a:gd name="connsiteX3" fmla="*/ 609600 w 666750"/>
              <a:gd name="connsiteY3" fmla="*/ 847725 h 847725"/>
              <a:gd name="connsiteX4" fmla="*/ 0 w 666750"/>
              <a:gd name="connsiteY4" fmla="*/ 762000 h 847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847725">
                <a:moveTo>
                  <a:pt x="0" y="762000"/>
                </a:moveTo>
                <a:lnTo>
                  <a:pt x="66675" y="0"/>
                </a:lnTo>
                <a:lnTo>
                  <a:pt x="666750" y="19050"/>
                </a:lnTo>
                <a:lnTo>
                  <a:pt x="609600" y="847725"/>
                </a:lnTo>
                <a:lnTo>
                  <a:pt x="0" y="762000"/>
                </a:ln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0" name="Kép 9" descr="A képen légi, Légi fotó, Madártávlat, fa látható&#10;&#10;Automatikusan generált leírás">
            <a:extLst>
              <a:ext uri="{FF2B5EF4-FFF2-40B4-BE49-F238E27FC236}">
                <a16:creationId xmlns:a16="http://schemas.microsoft.com/office/drawing/2014/main" id="{846E0CFE-22A1-FA64-CFCF-C4061C5B331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20000" contrast="40000"/>
                    </a14:imgEffect>
                  </a14:imgLayer>
                </a14:imgProps>
              </a:ext>
            </a:extLst>
          </a:blip>
          <a:stretch>
            <a:fillRect/>
          </a:stretch>
        </p:blipFill>
        <p:spPr>
          <a:xfrm>
            <a:off x="0" y="1936682"/>
            <a:ext cx="14578066" cy="8200162"/>
          </a:xfrm>
          <a:prstGeom prst="rect">
            <a:avLst/>
          </a:prstGeom>
        </p:spPr>
      </p:pic>
      <p:graphicFrame>
        <p:nvGraphicFramePr>
          <p:cNvPr id="156" name="Google Shape;156;p20"/>
          <p:cNvGraphicFramePr/>
          <p:nvPr>
            <p:extLst>
              <p:ext uri="{D42A27DB-BD31-4B8C-83A1-F6EECF244321}">
                <p14:modId xmlns:p14="http://schemas.microsoft.com/office/powerpoint/2010/main" val="4105811135"/>
              </p:ext>
            </p:extLst>
          </p:nvPr>
        </p:nvGraphicFramePr>
        <p:xfrm>
          <a:off x="0" y="0"/>
          <a:ext cx="14747744" cy="10691812"/>
        </p:xfrm>
        <a:graphic>
          <a:graphicData uri="http://schemas.openxmlformats.org/drawingml/2006/table">
            <a:tbl>
              <a:tblPr>
                <a:noFill/>
                <a:tableStyleId>{AE7EAA58-4EDA-4114-B047-75ABB572CC32}</a:tableStyleId>
              </a:tblPr>
              <a:tblGrid>
                <a:gridCol w="2430484">
                  <a:extLst>
                    <a:ext uri="{9D8B030D-6E8A-4147-A177-3AD203B41FA5}">
                      <a16:colId xmlns:a16="http://schemas.microsoft.com/office/drawing/2014/main" val="20000"/>
                    </a:ext>
                  </a:extLst>
                </a:gridCol>
                <a:gridCol w="6358114">
                  <a:extLst>
                    <a:ext uri="{9D8B030D-6E8A-4147-A177-3AD203B41FA5}">
                      <a16:colId xmlns:a16="http://schemas.microsoft.com/office/drawing/2014/main" val="20001"/>
                    </a:ext>
                  </a:extLst>
                </a:gridCol>
                <a:gridCol w="2230621">
                  <a:extLst>
                    <a:ext uri="{9D8B030D-6E8A-4147-A177-3AD203B41FA5}">
                      <a16:colId xmlns:a16="http://schemas.microsoft.com/office/drawing/2014/main" val="20002"/>
                    </a:ext>
                  </a:extLst>
                </a:gridCol>
                <a:gridCol w="3728525">
                  <a:extLst>
                    <a:ext uri="{9D8B030D-6E8A-4147-A177-3AD203B41FA5}">
                      <a16:colId xmlns:a16="http://schemas.microsoft.com/office/drawing/2014/main" val="20003"/>
                    </a:ext>
                  </a:extLst>
                </a:gridCol>
              </a:tblGrid>
              <a:tr h="843759">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hu-HU" sz="2000" b="1"/>
                        <a:t>SRNTGT088 - </a:t>
                      </a:r>
                      <a:r>
                        <a:rPr lang="en-US" sz="2000" b="1"/>
                        <a:t>ARMY Fuel Storage (2nd Corps)</a:t>
                      </a:r>
                      <a:endParaRPr lang="hu-HU" sz="2000" b="1"/>
                    </a:p>
                    <a:p>
                      <a:pPr marL="0" lvl="0" indent="0" algn="l" rtl="0">
                        <a:spcBef>
                          <a:spcPts val="0"/>
                        </a:spcBef>
                        <a:spcAft>
                          <a:spcPts val="0"/>
                        </a:spcAft>
                        <a:buNone/>
                      </a:pPr>
                      <a:r>
                        <a:rPr lang="fr" sz="2000" b="1"/>
                        <a:t>JOINT </a:t>
                      </a:r>
                      <a:r>
                        <a:rPr lang="fr" sz="2000" b="1" dirty="0"/>
                        <a:t>DESIRED POINT OF IMPACT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1690">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46363">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57" name="Google Shape;157;p20"/>
          <p:cNvGrpSpPr/>
          <p:nvPr/>
        </p:nvGrpSpPr>
        <p:grpSpPr>
          <a:xfrm rot="2538567">
            <a:off x="10732715" y="2284930"/>
            <a:ext cx="519600" cy="1236436"/>
            <a:chOff x="4246325" y="4458364"/>
            <a:chExt cx="519600" cy="1236436"/>
          </a:xfrm>
        </p:grpSpPr>
        <p:cxnSp>
          <p:nvCxnSpPr>
            <p:cNvPr id="158" name="Google Shape;158;p20"/>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159" name="Google Shape;159;p20"/>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sp>
        <p:nvSpPr>
          <p:cNvPr id="169" name="Google Shape;169;p20"/>
          <p:cNvSpPr txBox="1"/>
          <p:nvPr/>
        </p:nvSpPr>
        <p:spPr>
          <a:xfrm>
            <a:off x="11986689" y="3196685"/>
            <a:ext cx="2540100" cy="78594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a:t>
            </a:r>
            <a:r>
              <a:rPr lang="fr" sz="1000" b="1"/>
              <a:t>: </a:t>
            </a:r>
            <a:r>
              <a:rPr lang="hu-HU" sz="1000" b="1"/>
              <a:t>SRNTGT088</a:t>
            </a:r>
            <a:r>
              <a:rPr lang="fr" sz="1000" b="1"/>
              <a:t>B</a:t>
            </a:r>
            <a:endParaRPr sz="1000" b="1"/>
          </a:p>
          <a:p>
            <a:pPr marL="0" lvl="0" indent="0" algn="l" rtl="0">
              <a:spcBef>
                <a:spcPts val="0"/>
              </a:spcBef>
              <a:spcAft>
                <a:spcPts val="0"/>
              </a:spcAft>
              <a:buNone/>
            </a:pPr>
            <a:r>
              <a:rPr lang="hu-HU" sz="1000"/>
              <a:t>Production facility</a:t>
            </a:r>
          </a:p>
          <a:p>
            <a:pPr marL="0" lvl="0" indent="0" algn="l" rtl="0">
              <a:spcBef>
                <a:spcPts val="0"/>
              </a:spcBef>
              <a:spcAft>
                <a:spcPts val="0"/>
              </a:spcAft>
              <a:buNone/>
            </a:pPr>
            <a:r>
              <a:rPr lang="pt-BR" sz="1000" b="1"/>
              <a:t>N </a:t>
            </a:r>
            <a:r>
              <a:rPr lang="hu-HU" sz="1000" b="1"/>
              <a:t>69 26’030 E 030 54.580</a:t>
            </a:r>
            <a:r>
              <a:rPr lang="pt-BR" sz="1000" b="1"/>
              <a:t> </a:t>
            </a:r>
            <a:endParaRPr lang="hu-HU" sz="1000" b="1"/>
          </a:p>
          <a:p>
            <a:pPr marL="0" lvl="0" indent="0" algn="l" rtl="0">
              <a:spcBef>
                <a:spcPts val="0"/>
              </a:spcBef>
              <a:spcAft>
                <a:spcPts val="0"/>
              </a:spcAft>
              <a:buNone/>
            </a:pPr>
            <a:r>
              <a:rPr lang="fr" sz="1000" b="1"/>
              <a:t>DPI </a:t>
            </a:r>
            <a:r>
              <a:rPr lang="fr" sz="1000" b="1" dirty="0"/>
              <a:t>MSL</a:t>
            </a:r>
            <a:r>
              <a:rPr lang="fr" sz="1000" b="1"/>
              <a:t>: </a:t>
            </a:r>
            <a:r>
              <a:rPr lang="hu-HU" sz="1000" b="1"/>
              <a:t>290</a:t>
            </a:r>
            <a:r>
              <a:rPr lang="fr" sz="1000" b="1"/>
              <a:t> </a:t>
            </a:r>
            <a:r>
              <a:rPr lang="fr" sz="1000" b="1" dirty="0"/>
              <a:t>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sp>
        <p:nvSpPr>
          <p:cNvPr id="170" name="Google Shape;170;p20"/>
          <p:cNvSpPr txBox="1"/>
          <p:nvPr/>
        </p:nvSpPr>
        <p:spPr>
          <a:xfrm>
            <a:off x="11986689" y="4163794"/>
            <a:ext cx="2540100" cy="766493"/>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a:t>
            </a:r>
            <a:r>
              <a:rPr lang="fr" sz="1000" b="1"/>
              <a:t>: </a:t>
            </a:r>
            <a:r>
              <a:rPr lang="hu-HU" sz="1000" b="1"/>
              <a:t>SRNTGT088</a:t>
            </a:r>
            <a:r>
              <a:rPr lang="fr" sz="1000" b="1"/>
              <a:t>C</a:t>
            </a:r>
            <a:endParaRPr sz="1000" b="1"/>
          </a:p>
          <a:p>
            <a:pPr marL="0" lvl="0" indent="0" algn="l" rtl="0">
              <a:spcBef>
                <a:spcPts val="0"/>
              </a:spcBef>
              <a:spcAft>
                <a:spcPts val="0"/>
              </a:spcAft>
              <a:buNone/>
            </a:pPr>
            <a:r>
              <a:rPr lang="hu-HU" sz="1000"/>
              <a:t>Production facility</a:t>
            </a:r>
          </a:p>
          <a:p>
            <a:pPr marL="0" lvl="0" indent="0" algn="l" rtl="0">
              <a:spcBef>
                <a:spcPts val="0"/>
              </a:spcBef>
              <a:spcAft>
                <a:spcPts val="0"/>
              </a:spcAft>
              <a:buNone/>
            </a:pPr>
            <a:r>
              <a:rPr lang="pt-BR" sz="1000" b="1"/>
              <a:t>N </a:t>
            </a:r>
            <a:r>
              <a:rPr lang="hu-HU" sz="1000" b="1"/>
              <a:t>69 26’075 E 030 54.500</a:t>
            </a:r>
            <a:r>
              <a:rPr lang="pt-BR" sz="1000" b="1"/>
              <a:t> </a:t>
            </a:r>
            <a:endParaRPr lang="hu-HU" sz="1000" b="1"/>
          </a:p>
          <a:p>
            <a:pPr marL="0" lvl="0" indent="0" algn="l" rtl="0">
              <a:spcBef>
                <a:spcPts val="0"/>
              </a:spcBef>
              <a:spcAft>
                <a:spcPts val="0"/>
              </a:spcAft>
              <a:buNone/>
            </a:pPr>
            <a:r>
              <a:rPr lang="fr" sz="1000" b="1"/>
              <a:t>DPI </a:t>
            </a:r>
            <a:r>
              <a:rPr lang="fr" sz="1000" b="1" dirty="0"/>
              <a:t>MSL</a:t>
            </a:r>
            <a:r>
              <a:rPr lang="fr" sz="1000" b="1"/>
              <a:t>: </a:t>
            </a:r>
            <a:r>
              <a:rPr lang="hu-HU" sz="1000" b="1"/>
              <a:t>281</a:t>
            </a:r>
            <a:r>
              <a:rPr lang="fr" sz="1000" b="1"/>
              <a:t> </a:t>
            </a:r>
            <a:r>
              <a:rPr lang="fr" sz="1000" b="1" dirty="0"/>
              <a:t>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sp>
        <p:nvSpPr>
          <p:cNvPr id="171" name="Google Shape;171;p20"/>
          <p:cNvSpPr txBox="1"/>
          <p:nvPr/>
        </p:nvSpPr>
        <p:spPr>
          <a:xfrm>
            <a:off x="11986689" y="2219848"/>
            <a:ext cx="2540100" cy="795676"/>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a:t>
            </a:r>
            <a:r>
              <a:rPr lang="fr" sz="1000" b="1"/>
              <a:t>: </a:t>
            </a:r>
            <a:r>
              <a:rPr lang="hu-HU" sz="1000" b="1"/>
              <a:t>SRNTGT088</a:t>
            </a:r>
            <a:r>
              <a:rPr lang="fr" sz="1000" b="1"/>
              <a:t>A</a:t>
            </a:r>
            <a:endParaRPr sz="1000" b="1"/>
          </a:p>
          <a:p>
            <a:pPr marL="0" lvl="0" indent="0" algn="l" rtl="0">
              <a:spcBef>
                <a:spcPts val="0"/>
              </a:spcBef>
              <a:spcAft>
                <a:spcPts val="0"/>
              </a:spcAft>
              <a:buNone/>
            </a:pPr>
            <a:r>
              <a:rPr lang="hu-HU" sz="1000"/>
              <a:t>Production facility</a:t>
            </a:r>
          </a:p>
          <a:p>
            <a:pPr marL="0" lvl="0" indent="0" algn="l" rtl="0">
              <a:spcBef>
                <a:spcPts val="0"/>
              </a:spcBef>
              <a:spcAft>
                <a:spcPts val="0"/>
              </a:spcAft>
              <a:buNone/>
            </a:pPr>
            <a:r>
              <a:rPr lang="pt-BR" sz="1000" b="1"/>
              <a:t>N </a:t>
            </a:r>
            <a:r>
              <a:rPr lang="hu-HU" sz="1000" b="1"/>
              <a:t>69 26’065 E 030 51.600</a:t>
            </a:r>
            <a:r>
              <a:rPr lang="pt-BR" sz="1000" b="1"/>
              <a:t> </a:t>
            </a:r>
            <a:endParaRPr lang="hu-HU" sz="1000" b="1"/>
          </a:p>
          <a:p>
            <a:pPr marL="0" lvl="0" indent="0" algn="l" rtl="0">
              <a:spcBef>
                <a:spcPts val="0"/>
              </a:spcBef>
              <a:spcAft>
                <a:spcPts val="0"/>
              </a:spcAft>
              <a:buNone/>
            </a:pPr>
            <a:r>
              <a:rPr lang="fr" sz="1000" b="1"/>
              <a:t>DPI </a:t>
            </a:r>
            <a:r>
              <a:rPr lang="fr" sz="1000" b="1" dirty="0"/>
              <a:t>MSL</a:t>
            </a:r>
            <a:r>
              <a:rPr lang="fr" sz="1000" b="1"/>
              <a:t>: </a:t>
            </a:r>
            <a:r>
              <a:rPr lang="hu-HU" sz="1000" b="1"/>
              <a:t>283</a:t>
            </a:r>
            <a:r>
              <a:rPr lang="fr" sz="1000" b="1"/>
              <a:t> </a:t>
            </a:r>
            <a:r>
              <a:rPr lang="fr" sz="1000" b="1" dirty="0"/>
              <a:t>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sp>
        <p:nvSpPr>
          <p:cNvPr id="172" name="Google Shape;172;p20"/>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173" name="Google Shape;173;p20"/>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23" name="Picture 3"/>
          <p:cNvPicPr>
            <a:picLocks noChangeAspect="1" noChangeArrowheads="1"/>
          </p:cNvPicPr>
          <p:nvPr/>
        </p:nvPicPr>
        <p:blipFill>
          <a:blip r:embed="rId5" cstate="screen"/>
          <a:srcRect b="514"/>
          <a:stretch>
            <a:fillRect/>
          </a:stretch>
        </p:blipFill>
        <p:spPr bwMode="auto">
          <a:xfrm>
            <a:off x="9005457" y="65963"/>
            <a:ext cx="2276553" cy="1888331"/>
          </a:xfrm>
          <a:prstGeom prst="rect">
            <a:avLst/>
          </a:prstGeom>
          <a:noFill/>
          <a:ln w="9525">
            <a:solidFill>
              <a:schemeClr val="tx1"/>
            </a:solidFill>
            <a:miter lim="800000"/>
            <a:headEnd/>
            <a:tailEnd/>
          </a:ln>
          <a:effectLst/>
        </p:spPr>
      </p:pic>
      <p:pic>
        <p:nvPicPr>
          <p:cNvPr id="24" name="Picture 1" descr="D:\GIT PROJECTS\OPAT-background\Virtual Intelligence Service only logo.PNG"/>
          <p:cNvPicPr>
            <a:picLocks noChangeAspect="1" noChangeArrowheads="1"/>
          </p:cNvPicPr>
          <p:nvPr/>
        </p:nvPicPr>
        <p:blipFill>
          <a:blip r:embed="rId6"/>
          <a:srcRect/>
          <a:stretch>
            <a:fillRect/>
          </a:stretch>
        </p:blipFill>
        <p:spPr bwMode="auto">
          <a:xfrm>
            <a:off x="0" y="0"/>
            <a:ext cx="2225675" cy="1958975"/>
          </a:xfrm>
          <a:prstGeom prst="rect">
            <a:avLst/>
          </a:prstGeom>
          <a:noFill/>
        </p:spPr>
      </p:pic>
      <p:cxnSp>
        <p:nvCxnSpPr>
          <p:cNvPr id="25" name="Google Shape;65;p14"/>
          <p:cNvCxnSpPr/>
          <p:nvPr/>
        </p:nvCxnSpPr>
        <p:spPr>
          <a:xfrm rot="10800000">
            <a:off x="13394606" y="2663874"/>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26" name="Google Shape;66;p14"/>
          <p:cNvSpPr txBox="1"/>
          <p:nvPr/>
        </p:nvSpPr>
        <p:spPr>
          <a:xfrm>
            <a:off x="13412006" y="325381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bg1"/>
                </a:solidFill>
              </a:rPr>
              <a:t>N</a:t>
            </a:r>
            <a:endParaRPr sz="3000" b="1">
              <a:solidFill>
                <a:schemeClr val="bg1"/>
              </a:solidFill>
            </a:endParaRPr>
          </a:p>
        </p:txBody>
      </p:sp>
      <p:sp>
        <p:nvSpPr>
          <p:cNvPr id="27" name="Rektangel 26"/>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71;p20">
            <a:extLst>
              <a:ext uri="{FF2B5EF4-FFF2-40B4-BE49-F238E27FC236}">
                <a16:creationId xmlns:a16="http://schemas.microsoft.com/office/drawing/2014/main" id="{9DA1DA3C-670F-9774-C549-48BB7BE271AB}"/>
              </a:ext>
            </a:extLst>
          </p:cNvPr>
          <p:cNvSpPr txBox="1"/>
          <p:nvPr/>
        </p:nvSpPr>
        <p:spPr>
          <a:xfrm>
            <a:off x="11955753" y="5230022"/>
            <a:ext cx="2540100" cy="795676"/>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DPI</a:t>
            </a:r>
            <a:r>
              <a:rPr lang="fr" sz="1000" b="1"/>
              <a:t>: </a:t>
            </a:r>
            <a:r>
              <a:rPr lang="hu-HU" sz="1000" b="1"/>
              <a:t>SRNTGT088D</a:t>
            </a:r>
          </a:p>
          <a:p>
            <a:pPr marL="0" lvl="0" indent="0" algn="l" rtl="0">
              <a:spcBef>
                <a:spcPts val="0"/>
              </a:spcBef>
              <a:spcAft>
                <a:spcPts val="0"/>
              </a:spcAft>
              <a:buNone/>
            </a:pPr>
            <a:r>
              <a:rPr lang="hu-HU" sz="1000"/>
              <a:t>Production facility</a:t>
            </a:r>
          </a:p>
          <a:p>
            <a:pPr marL="0" lvl="0" indent="0" algn="l" rtl="0">
              <a:spcBef>
                <a:spcPts val="0"/>
              </a:spcBef>
              <a:spcAft>
                <a:spcPts val="0"/>
              </a:spcAft>
              <a:buNone/>
            </a:pPr>
            <a:r>
              <a:rPr lang="pt-BR" sz="1000" b="1"/>
              <a:t>N </a:t>
            </a:r>
            <a:r>
              <a:rPr lang="hu-HU" sz="1000" b="1"/>
              <a:t>69 26’043 E 030 54.447</a:t>
            </a:r>
            <a:r>
              <a:rPr lang="pt-BR" sz="1000" b="1"/>
              <a:t> </a:t>
            </a:r>
            <a:endParaRPr lang="hu-HU" sz="1000" b="1"/>
          </a:p>
          <a:p>
            <a:pPr marL="0" lvl="0" indent="0" algn="l" rtl="0">
              <a:spcBef>
                <a:spcPts val="0"/>
              </a:spcBef>
              <a:spcAft>
                <a:spcPts val="0"/>
              </a:spcAft>
              <a:buNone/>
            </a:pPr>
            <a:r>
              <a:rPr lang="fr" sz="1000" b="1"/>
              <a:t>DPI </a:t>
            </a:r>
            <a:r>
              <a:rPr lang="fr" sz="1000" b="1" dirty="0"/>
              <a:t>MSL</a:t>
            </a:r>
            <a:r>
              <a:rPr lang="fr" sz="1000" b="1"/>
              <a:t>: </a:t>
            </a:r>
            <a:r>
              <a:rPr lang="hu-HU" sz="1000" b="1"/>
              <a:t>289</a:t>
            </a:r>
            <a:r>
              <a:rPr lang="fr" sz="1000" b="1"/>
              <a:t> </a:t>
            </a:r>
            <a:r>
              <a:rPr lang="fr" sz="1000" b="1" dirty="0"/>
              <a:t>FT</a:t>
            </a: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a:p>
            <a:pPr marL="0" lvl="0" indent="0" algn="l" rtl="0">
              <a:spcBef>
                <a:spcPts val="0"/>
              </a:spcBef>
              <a:spcAft>
                <a:spcPts val="0"/>
              </a:spcAft>
              <a:buNone/>
            </a:pPr>
            <a:endParaRPr sz="1000" b="1"/>
          </a:p>
        </p:txBody>
      </p:sp>
      <p:grpSp>
        <p:nvGrpSpPr>
          <p:cNvPr id="163" name="Google Shape;163;p20"/>
          <p:cNvGrpSpPr/>
          <p:nvPr/>
        </p:nvGrpSpPr>
        <p:grpSpPr>
          <a:xfrm>
            <a:off x="8675669" y="7983746"/>
            <a:ext cx="1666521" cy="672782"/>
            <a:chOff x="4053101" y="7053056"/>
            <a:chExt cx="1654279" cy="672782"/>
          </a:xfrm>
        </p:grpSpPr>
        <p:sp>
          <p:nvSpPr>
            <p:cNvPr id="164" name="Google Shape;164;p20"/>
            <p:cNvSpPr txBox="1"/>
            <p:nvPr/>
          </p:nvSpPr>
          <p:spPr>
            <a:xfrm>
              <a:off x="4814880" y="7441738"/>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B</a:t>
              </a:r>
              <a:endParaRPr b="1">
                <a:solidFill>
                  <a:schemeClr val="dk1"/>
                </a:solidFill>
              </a:endParaRPr>
            </a:p>
          </p:txBody>
        </p:sp>
        <p:cxnSp>
          <p:nvCxnSpPr>
            <p:cNvPr id="165" name="Google Shape;165;p20"/>
            <p:cNvCxnSpPr>
              <a:cxnSpLocks/>
              <a:stCxn id="164" idx="1"/>
            </p:cNvCxnSpPr>
            <p:nvPr/>
          </p:nvCxnSpPr>
          <p:spPr>
            <a:xfrm flipH="1" flipV="1">
              <a:off x="4053101" y="7053056"/>
              <a:ext cx="761779" cy="530732"/>
            </a:xfrm>
            <a:prstGeom prst="straightConnector1">
              <a:avLst/>
            </a:prstGeom>
            <a:noFill/>
            <a:ln w="19050" cap="flat" cmpd="sng">
              <a:solidFill>
                <a:srgbClr val="000000"/>
              </a:solidFill>
              <a:prstDash val="solid"/>
              <a:round/>
              <a:headEnd type="none" w="med" len="med"/>
              <a:tailEnd type="none" w="med" len="med"/>
            </a:ln>
          </p:spPr>
        </p:cxnSp>
      </p:grpSp>
      <p:grpSp>
        <p:nvGrpSpPr>
          <p:cNvPr id="166" name="Google Shape;166;p20"/>
          <p:cNvGrpSpPr/>
          <p:nvPr/>
        </p:nvGrpSpPr>
        <p:grpSpPr>
          <a:xfrm>
            <a:off x="4307444" y="5773588"/>
            <a:ext cx="2255960" cy="998738"/>
            <a:chOff x="5152732" y="7499984"/>
            <a:chExt cx="2239389" cy="998738"/>
          </a:xfrm>
        </p:grpSpPr>
        <p:sp>
          <p:nvSpPr>
            <p:cNvPr id="167" name="Google Shape;167;p20"/>
            <p:cNvSpPr txBox="1"/>
            <p:nvPr/>
          </p:nvSpPr>
          <p:spPr>
            <a:xfrm>
              <a:off x="5152732" y="8214622"/>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C</a:t>
              </a:r>
              <a:endParaRPr b="1">
                <a:solidFill>
                  <a:schemeClr val="dk1"/>
                </a:solidFill>
              </a:endParaRPr>
            </a:p>
          </p:txBody>
        </p:sp>
        <p:cxnSp>
          <p:nvCxnSpPr>
            <p:cNvPr id="168" name="Google Shape;168;p20"/>
            <p:cNvCxnSpPr>
              <a:cxnSpLocks/>
              <a:stCxn id="167" idx="0"/>
            </p:cNvCxnSpPr>
            <p:nvPr/>
          </p:nvCxnSpPr>
          <p:spPr>
            <a:xfrm flipV="1">
              <a:off x="5598982" y="7499984"/>
              <a:ext cx="1793139" cy="714638"/>
            </a:xfrm>
            <a:prstGeom prst="straightConnector1">
              <a:avLst/>
            </a:prstGeom>
            <a:noFill/>
            <a:ln w="19050" cap="flat" cmpd="sng">
              <a:solidFill>
                <a:srgbClr val="000000"/>
              </a:solidFill>
              <a:prstDash val="solid"/>
              <a:round/>
              <a:headEnd type="none" w="med" len="med"/>
              <a:tailEnd type="none" w="med" len="med"/>
            </a:ln>
          </p:spPr>
        </p:cxnSp>
      </p:grpSp>
      <p:grpSp>
        <p:nvGrpSpPr>
          <p:cNvPr id="19" name="Google Shape;163;p20">
            <a:extLst>
              <a:ext uri="{FF2B5EF4-FFF2-40B4-BE49-F238E27FC236}">
                <a16:creationId xmlns:a16="http://schemas.microsoft.com/office/drawing/2014/main" id="{8CF70ED4-2E1C-82F0-A952-F7AC6D51544E}"/>
              </a:ext>
            </a:extLst>
          </p:cNvPr>
          <p:cNvGrpSpPr/>
          <p:nvPr/>
        </p:nvGrpSpPr>
        <p:grpSpPr>
          <a:xfrm>
            <a:off x="4385031" y="7517302"/>
            <a:ext cx="1975274" cy="284100"/>
            <a:chOff x="3945100" y="6965375"/>
            <a:chExt cx="1960765" cy="284100"/>
          </a:xfrm>
        </p:grpSpPr>
        <p:sp>
          <p:nvSpPr>
            <p:cNvPr id="20" name="Google Shape;164;p20">
              <a:extLst>
                <a:ext uri="{FF2B5EF4-FFF2-40B4-BE49-F238E27FC236}">
                  <a16:creationId xmlns:a16="http://schemas.microsoft.com/office/drawing/2014/main" id="{3634D969-985A-38C8-5C19-E8A444A47B96}"/>
                </a:ext>
              </a:extLst>
            </p:cNvPr>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DPI </a:t>
              </a:r>
              <a:r>
                <a:rPr lang="hu-HU" b="1">
                  <a:solidFill>
                    <a:schemeClr val="dk1"/>
                  </a:solidFill>
                </a:rPr>
                <a:t>D</a:t>
              </a:r>
              <a:endParaRPr b="1">
                <a:solidFill>
                  <a:schemeClr val="dk1"/>
                </a:solidFill>
              </a:endParaRPr>
            </a:p>
          </p:txBody>
        </p:sp>
        <p:cxnSp>
          <p:nvCxnSpPr>
            <p:cNvPr id="21" name="Google Shape;165;p20">
              <a:extLst>
                <a:ext uri="{FF2B5EF4-FFF2-40B4-BE49-F238E27FC236}">
                  <a16:creationId xmlns:a16="http://schemas.microsoft.com/office/drawing/2014/main" id="{66E72274-170D-28B3-5D24-638A364FB6D8}"/>
                </a:ext>
              </a:extLst>
            </p:cNvPr>
            <p:cNvCxnSpPr>
              <a:cxnSpLocks/>
            </p:cNvCxnSpPr>
            <p:nvPr/>
          </p:nvCxnSpPr>
          <p:spPr>
            <a:xfrm>
              <a:off x="4837600" y="7107425"/>
              <a:ext cx="1068265" cy="77794"/>
            </a:xfrm>
            <a:prstGeom prst="straightConnector1">
              <a:avLst/>
            </a:prstGeom>
            <a:noFill/>
            <a:ln w="19050" cap="flat" cmpd="sng">
              <a:solidFill>
                <a:srgbClr val="000000"/>
              </a:solidFill>
              <a:prstDash val="solid"/>
              <a:round/>
              <a:headEnd type="none" w="med" len="med"/>
              <a:tailEnd type="none" w="med" len="med"/>
            </a:ln>
          </p:spPr>
        </p:cxnSp>
      </p:grpSp>
      <p:grpSp>
        <p:nvGrpSpPr>
          <p:cNvPr id="128" name="Google Shape;163;p20">
            <a:extLst>
              <a:ext uri="{FF2B5EF4-FFF2-40B4-BE49-F238E27FC236}">
                <a16:creationId xmlns:a16="http://schemas.microsoft.com/office/drawing/2014/main" id="{2F7064E3-CE7D-1370-87E9-51ACA4745EC0}"/>
              </a:ext>
            </a:extLst>
          </p:cNvPr>
          <p:cNvGrpSpPr/>
          <p:nvPr/>
        </p:nvGrpSpPr>
        <p:grpSpPr>
          <a:xfrm>
            <a:off x="8844510" y="6138978"/>
            <a:ext cx="1873441" cy="1026038"/>
            <a:chOff x="9322175" y="7280326"/>
            <a:chExt cx="1859680" cy="1026038"/>
          </a:xfrm>
        </p:grpSpPr>
        <p:sp>
          <p:nvSpPr>
            <p:cNvPr id="129" name="Google Shape;164;p20">
              <a:extLst>
                <a:ext uri="{FF2B5EF4-FFF2-40B4-BE49-F238E27FC236}">
                  <a16:creationId xmlns:a16="http://schemas.microsoft.com/office/drawing/2014/main" id="{A14FC58C-F307-7040-9C63-146656D03734}"/>
                </a:ext>
              </a:extLst>
            </p:cNvPr>
            <p:cNvSpPr txBox="1"/>
            <p:nvPr/>
          </p:nvSpPr>
          <p:spPr>
            <a:xfrm>
              <a:off x="10289355" y="8022264"/>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DPI </a:t>
              </a:r>
              <a:r>
                <a:rPr lang="hu-HU" b="1">
                  <a:solidFill>
                    <a:schemeClr val="dk1"/>
                  </a:solidFill>
                </a:rPr>
                <a:t>A</a:t>
              </a:r>
              <a:endParaRPr b="1">
                <a:solidFill>
                  <a:schemeClr val="dk1"/>
                </a:solidFill>
              </a:endParaRPr>
            </a:p>
          </p:txBody>
        </p:sp>
        <p:cxnSp>
          <p:nvCxnSpPr>
            <p:cNvPr id="130" name="Google Shape;165;p20">
              <a:extLst>
                <a:ext uri="{FF2B5EF4-FFF2-40B4-BE49-F238E27FC236}">
                  <a16:creationId xmlns:a16="http://schemas.microsoft.com/office/drawing/2014/main" id="{9A2229B2-26B5-CE12-2FD6-39F2075DD5B7}"/>
                </a:ext>
              </a:extLst>
            </p:cNvPr>
            <p:cNvCxnSpPr>
              <a:cxnSpLocks/>
            </p:cNvCxnSpPr>
            <p:nvPr/>
          </p:nvCxnSpPr>
          <p:spPr>
            <a:xfrm>
              <a:off x="9322175" y="7280326"/>
              <a:ext cx="961028" cy="855837"/>
            </a:xfrm>
            <a:prstGeom prst="straightConnector1">
              <a:avLst/>
            </a:prstGeom>
            <a:noFill/>
            <a:ln w="19050" cap="flat" cmpd="sng">
              <a:solidFill>
                <a:srgbClr val="000000"/>
              </a:solidFill>
              <a:prstDash val="solid"/>
              <a:round/>
              <a:headEnd type="none" w="med" len="med"/>
              <a:tailEnd type="none" w="med" len="med"/>
            </a:ln>
          </p:spPr>
        </p:cxnSp>
      </p:grpSp>
      <p:cxnSp>
        <p:nvCxnSpPr>
          <p:cNvPr id="44" name="Google Shape;165;p20">
            <a:extLst>
              <a:ext uri="{FF2B5EF4-FFF2-40B4-BE49-F238E27FC236}">
                <a16:creationId xmlns:a16="http://schemas.microsoft.com/office/drawing/2014/main" id="{8905B6DE-3101-793C-6969-D76F483E7AAF}"/>
              </a:ext>
            </a:extLst>
          </p:cNvPr>
          <p:cNvCxnSpPr>
            <a:cxnSpLocks/>
          </p:cNvCxnSpPr>
          <p:nvPr/>
        </p:nvCxnSpPr>
        <p:spPr>
          <a:xfrm flipH="1">
            <a:off x="10558019" y="3713008"/>
            <a:ext cx="40878" cy="1842773"/>
          </a:xfrm>
          <a:prstGeom prst="straightConnector1">
            <a:avLst/>
          </a:prstGeom>
          <a:noFill/>
          <a:ln w="19050" cap="flat" cmpd="sng">
            <a:solidFill>
              <a:srgbClr val="000000"/>
            </a:solidFill>
            <a:prstDash val="solid"/>
            <a:round/>
            <a:headEnd type="none" w="med" len="med"/>
            <a:tailEnd type="none" w="med" len="med"/>
          </a:ln>
        </p:spPr>
      </p:cxnSp>
      <p:sp>
        <p:nvSpPr>
          <p:cNvPr id="49" name="Rektangel 11">
            <a:extLst>
              <a:ext uri="{FF2B5EF4-FFF2-40B4-BE49-F238E27FC236}">
                <a16:creationId xmlns:a16="http://schemas.microsoft.com/office/drawing/2014/main" id="{39468596-B3B1-4865-8710-2BD5DC59943A}"/>
              </a:ext>
            </a:extLst>
          </p:cNvPr>
          <p:cNvSpPr/>
          <p:nvPr/>
        </p:nvSpPr>
        <p:spPr>
          <a:xfrm>
            <a:off x="9892638" y="776977"/>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21"/>
          <p:cNvGraphicFramePr/>
          <p:nvPr>
            <p:extLst>
              <p:ext uri="{D42A27DB-BD31-4B8C-83A1-F6EECF244321}">
                <p14:modId xmlns:p14="http://schemas.microsoft.com/office/powerpoint/2010/main" val="356286806"/>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nb-NO" sz="2000" b="1"/>
                        <a:t>SRNTGT088 - </a:t>
                      </a:r>
                      <a:r>
                        <a:rPr lang="en-US" sz="2000" b="1"/>
                        <a:t>ARMY Fuel Storage (2nd Corps)</a:t>
                      </a:r>
                      <a:endParaRPr lang="hu-HU" sz="2000" b="1"/>
                    </a:p>
                    <a:p>
                      <a:pPr marL="0" lvl="0" indent="0" algn="l" rtl="0">
                        <a:spcBef>
                          <a:spcPts val="0"/>
                        </a:spcBef>
                        <a:spcAft>
                          <a:spcPts val="0"/>
                        </a:spcAft>
                        <a:buNone/>
                      </a:pPr>
                      <a:r>
                        <a:rPr lang="fr" sz="2000" b="1"/>
                        <a:t>WEAPONEERING </a:t>
                      </a:r>
                      <a:r>
                        <a:rPr lang="fr" sz="2000" b="1" dirty="0"/>
                        <a:t>OPTIONS</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180" name="Google Shape;180;p21"/>
          <p:cNvSpPr txBox="1"/>
          <p:nvPr/>
        </p:nvSpPr>
        <p:spPr>
          <a:xfrm>
            <a:off x="0" y="10141525"/>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181" name="Google Shape;181;p21"/>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graphicFrame>
        <p:nvGraphicFramePr>
          <p:cNvPr id="182" name="Google Shape;182;p21"/>
          <p:cNvGraphicFramePr/>
          <p:nvPr>
            <p:extLst>
              <p:ext uri="{D42A27DB-BD31-4B8C-83A1-F6EECF244321}">
                <p14:modId xmlns:p14="http://schemas.microsoft.com/office/powerpoint/2010/main" val="2332727915"/>
              </p:ext>
            </p:extLst>
          </p:nvPr>
        </p:nvGraphicFramePr>
        <p:xfrm>
          <a:off x="-25" y="2586435"/>
          <a:ext cx="15119950" cy="7236974"/>
        </p:xfrm>
        <a:graphic>
          <a:graphicData uri="http://schemas.openxmlformats.org/drawingml/2006/table">
            <a:tbl>
              <a:tblPr>
                <a:noFill/>
                <a:tableStyleId>{85EE82D6-AF98-40BB-A63E-5EA55E4C3481}</a:tableStyleId>
              </a:tblPr>
              <a:tblGrid>
                <a:gridCol w="1308075">
                  <a:extLst>
                    <a:ext uri="{9D8B030D-6E8A-4147-A177-3AD203B41FA5}">
                      <a16:colId xmlns:a16="http://schemas.microsoft.com/office/drawing/2014/main" val="20000"/>
                    </a:ext>
                  </a:extLst>
                </a:gridCol>
                <a:gridCol w="4072450">
                  <a:extLst>
                    <a:ext uri="{9D8B030D-6E8A-4147-A177-3AD203B41FA5}">
                      <a16:colId xmlns:a16="http://schemas.microsoft.com/office/drawing/2014/main" val="20001"/>
                    </a:ext>
                  </a:extLst>
                </a:gridCol>
                <a:gridCol w="1533375">
                  <a:extLst>
                    <a:ext uri="{9D8B030D-6E8A-4147-A177-3AD203B41FA5}">
                      <a16:colId xmlns:a16="http://schemas.microsoft.com/office/drawing/2014/main" val="20002"/>
                    </a:ext>
                  </a:extLst>
                </a:gridCol>
                <a:gridCol w="1533375">
                  <a:extLst>
                    <a:ext uri="{9D8B030D-6E8A-4147-A177-3AD203B41FA5}">
                      <a16:colId xmlns:a16="http://schemas.microsoft.com/office/drawing/2014/main" val="20003"/>
                    </a:ext>
                  </a:extLst>
                </a:gridCol>
                <a:gridCol w="1533375">
                  <a:extLst>
                    <a:ext uri="{9D8B030D-6E8A-4147-A177-3AD203B41FA5}">
                      <a16:colId xmlns:a16="http://schemas.microsoft.com/office/drawing/2014/main" val="20004"/>
                    </a:ext>
                  </a:extLst>
                </a:gridCol>
                <a:gridCol w="29793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04800">
                <a:tc>
                  <a:txBody>
                    <a:bodyPr/>
                    <a:lstStyle/>
                    <a:p>
                      <a:pPr marL="0" lvl="0" indent="0" algn="ctr" rtl="0">
                        <a:lnSpc>
                          <a:spcPct val="115000"/>
                        </a:lnSpc>
                        <a:spcBef>
                          <a:spcPts val="0"/>
                        </a:spcBef>
                        <a:spcAft>
                          <a:spcPts val="0"/>
                        </a:spcAft>
                        <a:buNone/>
                      </a:pPr>
                      <a:r>
                        <a:rPr lang="fr" sz="1600" b="1" dirty="0">
                          <a:solidFill>
                            <a:schemeClr val="lt1"/>
                          </a:solidFill>
                        </a:rPr>
                        <a:t>DPI</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TLE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WARHEAD</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GUIDANCE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DESIRED EFFECT</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IMPACT ANGLE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FUZING</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304800">
                <a:tc>
                  <a:txBody>
                    <a:bodyPr/>
                    <a:lstStyle/>
                    <a:p>
                      <a:pPr marL="0" lvl="0" indent="0" algn="ctr" rtl="0">
                        <a:spcBef>
                          <a:spcPts val="0"/>
                        </a:spcBef>
                        <a:spcAft>
                          <a:spcPts val="0"/>
                        </a:spcAft>
                        <a:buClr>
                          <a:schemeClr val="dk1"/>
                        </a:buClr>
                        <a:buSzPts val="1100"/>
                        <a:buFont typeface="Arial"/>
                        <a:buNone/>
                      </a:pPr>
                      <a:r>
                        <a:rPr lang="hu-HU"/>
                        <a:t>A</a:t>
                      </a: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hu-HU"/>
                        <a:t>FUEL TANK</a:t>
                      </a: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hu-HU">
                          <a:solidFill>
                            <a:schemeClr val="dk1"/>
                          </a:solidFill>
                        </a:rPr>
                        <a:t>CAT2</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1000</a:t>
                      </a: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DECIMETRIC</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BLAST, FRAGMENTATION</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45</a:t>
                      </a:r>
                      <a:r>
                        <a:rPr lang="en-GB"/>
                        <a:t>-90</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10</a:t>
                      </a:r>
                      <a:r>
                        <a:rPr lang="en-GB"/>
                        <a:t>ms</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lvl="0" indent="0" algn="ctr" rtl="0">
                        <a:spcBef>
                          <a:spcPts val="0"/>
                        </a:spcBef>
                        <a:spcAft>
                          <a:spcPts val="0"/>
                        </a:spcAft>
                        <a:buNone/>
                      </a:pPr>
                      <a:r>
                        <a:rPr lang="hu-HU"/>
                        <a:t>B</a:t>
                      </a: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FUEL TANK</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hu-HU">
                          <a:solidFill>
                            <a:schemeClr val="dk1"/>
                          </a:solidFill>
                        </a:rPr>
                        <a:t>CAT2</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1000</a:t>
                      </a: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DECIMETRIC</a:t>
                      </a:r>
                      <a:endParaRPr dirty="0"/>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BLAST, FRAGMENTATION</a:t>
                      </a: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45</a:t>
                      </a:r>
                      <a:r>
                        <a:rPr lang="en-GB"/>
                        <a:t>-90</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10</a:t>
                      </a:r>
                      <a:r>
                        <a:rPr lang="en-GB"/>
                        <a:t>ms</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lvl="0" indent="0" algn="ctr" rtl="0">
                        <a:spcBef>
                          <a:spcPts val="0"/>
                        </a:spcBef>
                        <a:spcAft>
                          <a:spcPts val="0"/>
                        </a:spcAft>
                        <a:buNone/>
                      </a:pPr>
                      <a:r>
                        <a:rPr lang="hu-HU"/>
                        <a:t>C</a:t>
                      </a: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FUEL TANK</a:t>
                      </a: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hu-HU">
                          <a:solidFill>
                            <a:schemeClr val="dk1"/>
                          </a:solidFill>
                        </a:rPr>
                        <a:t>CAT2</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1000</a:t>
                      </a: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DECIMETRIC</a:t>
                      </a:r>
                      <a:endParaRPr dirty="0"/>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BLAST, FRAGMENTATION</a:t>
                      </a: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45</a:t>
                      </a:r>
                      <a:r>
                        <a:rPr lang="en-GB"/>
                        <a:t>-90</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10</a:t>
                      </a:r>
                      <a:r>
                        <a:rPr lang="en-GB"/>
                        <a:t>ms</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lvl="0" indent="0" algn="ctr" rtl="0">
                        <a:spcBef>
                          <a:spcPts val="0"/>
                        </a:spcBef>
                        <a:spcAft>
                          <a:spcPts val="0"/>
                        </a:spcAft>
                        <a:buNone/>
                      </a:pPr>
                      <a:r>
                        <a:rPr lang="hu-HU"/>
                        <a:t>D</a:t>
                      </a: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FUEL TANK</a:t>
                      </a: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hu-HU">
                          <a:solidFill>
                            <a:schemeClr val="dk1"/>
                          </a:solidFill>
                        </a:rPr>
                        <a:t>CAT2</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hu-HU" sz="1400" b="0" i="0" u="none" strike="noStrike" kern="0" cap="none" spc="0" normalizeH="0" baseline="0" noProof="0">
                          <a:ln>
                            <a:noFill/>
                          </a:ln>
                          <a:solidFill>
                            <a:srgbClr val="000000"/>
                          </a:solidFill>
                          <a:effectLst/>
                          <a:uLnTx/>
                          <a:uFillTx/>
                          <a:latin typeface="Arial"/>
                          <a:cs typeface="Arial"/>
                          <a:sym typeface="Arial"/>
                        </a:rPr>
                        <a:t>1000</a:t>
                      </a: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DECIMETRIC</a:t>
                      </a:r>
                      <a:endParaRPr dirty="0"/>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GB" dirty="0"/>
                        <a:t>BLAST, FRAGMENTATION</a:t>
                      </a: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45</a:t>
                      </a:r>
                      <a:r>
                        <a:rPr lang="en-GB"/>
                        <a:t>-90</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hu-HU"/>
                        <a:t>10</a:t>
                      </a:r>
                      <a:r>
                        <a:rPr lang="en-GB"/>
                        <a:t>ms</a:t>
                      </a: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kumimoji="0" lang="hu-HU" sz="1400" b="0" i="0" u="none" strike="noStrike" kern="0" cap="none" spc="0" normalizeH="0" baseline="0" noProof="0">
                        <a:ln>
                          <a:noFill/>
                        </a:ln>
                        <a:solidFill>
                          <a:srgbClr val="000000"/>
                        </a:solidFill>
                        <a:effectLst/>
                        <a:uLnTx/>
                        <a:uFillTx/>
                        <a:latin typeface="Arial"/>
                        <a:cs typeface="Arial"/>
                        <a:sym typeface="Arial"/>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kumimoji="0" lang="hu-HU" sz="1400" b="0" i="0" u="none" strike="noStrike" kern="0" cap="none" spc="0" normalizeH="0" baseline="0" noProof="0">
                        <a:ln>
                          <a:noFill/>
                        </a:ln>
                        <a:solidFill>
                          <a:srgbClr val="000000"/>
                        </a:solidFill>
                        <a:effectLst/>
                        <a:uLnTx/>
                        <a:uFillTx/>
                        <a:latin typeface="Arial"/>
                        <a:cs typeface="Arial"/>
                        <a:sym typeface="Arial"/>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lang="hu-HU"/>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kumimoji="0" lang="hu-HU" sz="1400" b="0" i="0" u="none" strike="noStrike" kern="0" cap="none" spc="0" normalizeH="0" baseline="0" noProof="0">
                        <a:ln>
                          <a:noFill/>
                        </a:ln>
                        <a:solidFill>
                          <a:srgbClr val="000000"/>
                        </a:solidFill>
                        <a:effectLst/>
                        <a:uLnTx/>
                        <a:uFillTx/>
                        <a:latin typeface="Arial"/>
                        <a:cs typeface="Arial"/>
                        <a:sym typeface="Arial"/>
                      </a:endParaRPr>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hu-HU"/>
                    </a:p>
                  </a:txBody>
                  <a:tcPr marL="91425" marR="91425" marT="91425" marB="91425"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kumimoji="0" lang="hu-HU" sz="1400" b="0" i="0" u="none" strike="noStrike" kern="0" cap="none" spc="0" normalizeH="0" baseline="0" noProof="0">
                        <a:ln>
                          <a:noFill/>
                        </a:ln>
                        <a:solidFill>
                          <a:srgbClr val="000000"/>
                        </a:solidFill>
                        <a:effectLst/>
                        <a:uLnTx/>
                        <a:uFillTx/>
                        <a:latin typeface="Arial"/>
                        <a:cs typeface="Arial"/>
                        <a:sym typeface="Aria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dirty="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3"/>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4"/>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5"/>
                  </a:ext>
                </a:extLst>
              </a:tr>
              <a:tr h="304800">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pic>
        <p:nvPicPr>
          <p:cNvPr id="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9"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11" name="Rektangel 10"/>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ktangel 11">
            <a:extLst>
              <a:ext uri="{FF2B5EF4-FFF2-40B4-BE49-F238E27FC236}">
                <a16:creationId xmlns:a16="http://schemas.microsoft.com/office/drawing/2014/main" id="{98E0B44B-D492-60D5-BEDD-10790FC9D306}"/>
              </a:ext>
            </a:extLst>
          </p:cNvPr>
          <p:cNvSpPr/>
          <p:nvPr/>
        </p:nvSpPr>
        <p:spPr>
          <a:xfrm>
            <a:off x="10027504" y="695458"/>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aphicFrame>
        <p:nvGraphicFramePr>
          <p:cNvPr id="188" name="Google Shape;188;p22"/>
          <p:cNvGraphicFramePr/>
          <p:nvPr>
            <p:extLst>
              <p:ext uri="{D42A27DB-BD31-4B8C-83A1-F6EECF244321}">
                <p14:modId xmlns:p14="http://schemas.microsoft.com/office/powerpoint/2010/main" val="2439852851"/>
              </p:ext>
            </p:extLst>
          </p:nvPr>
        </p:nvGraphicFramePr>
        <p:xfrm>
          <a:off x="0" y="0"/>
          <a:ext cx="15120000" cy="10755900"/>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28550">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nb-NO" sz="2000" b="1"/>
                        <a:t>SRNTGT088 - </a:t>
                      </a:r>
                      <a:r>
                        <a:rPr lang="en-US" sz="2000" b="1"/>
                        <a:t>ARMY Fuel Storage (2nd Corps)</a:t>
                      </a:r>
                      <a:endParaRPr lang="hu-HU" sz="2000" b="1"/>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 sz="2000" b="1"/>
                        <a:t>COLLATERAL </a:t>
                      </a:r>
                      <a:r>
                        <a:rPr lang="fr" sz="2000" b="1" dirty="0"/>
                        <a:t>DAMAGE ESTIMATION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14600">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848850">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89" name="Google Shape;189;p22"/>
          <p:cNvGrpSpPr/>
          <p:nvPr/>
        </p:nvGrpSpPr>
        <p:grpSpPr>
          <a:xfrm>
            <a:off x="13999925" y="2400964"/>
            <a:ext cx="519600" cy="1236436"/>
            <a:chOff x="4246325" y="4458364"/>
            <a:chExt cx="519600" cy="1236436"/>
          </a:xfrm>
        </p:grpSpPr>
        <p:cxnSp>
          <p:nvCxnSpPr>
            <p:cNvPr id="190" name="Google Shape;190;p22"/>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191" name="Google Shape;191;p22"/>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grpSp>
        <p:nvGrpSpPr>
          <p:cNvPr id="192" name="Google Shape;192;p22"/>
          <p:cNvGrpSpPr/>
          <p:nvPr/>
        </p:nvGrpSpPr>
        <p:grpSpPr>
          <a:xfrm>
            <a:off x="1820941" y="4661107"/>
            <a:ext cx="1631384" cy="422850"/>
            <a:chOff x="3945100" y="6965375"/>
            <a:chExt cx="1619400" cy="422850"/>
          </a:xfrm>
        </p:grpSpPr>
        <p:sp>
          <p:nvSpPr>
            <p:cNvPr id="193" name="Google Shape;193;p22"/>
            <p:cNvSpPr txBox="1"/>
            <p:nvPr/>
          </p:nvSpPr>
          <p:spPr>
            <a:xfrm>
              <a:off x="3945100" y="6965375"/>
              <a:ext cx="892500" cy="2841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DPI X</a:t>
              </a:r>
              <a:endParaRPr b="1">
                <a:solidFill>
                  <a:schemeClr val="dk1"/>
                </a:solidFill>
              </a:endParaRPr>
            </a:p>
          </p:txBody>
        </p:sp>
        <p:cxnSp>
          <p:nvCxnSpPr>
            <p:cNvPr id="194" name="Google Shape;194;p22"/>
            <p:cNvCxnSpPr/>
            <p:nvPr/>
          </p:nvCxnSpPr>
          <p:spPr>
            <a:xfrm>
              <a:off x="4837600" y="7107425"/>
              <a:ext cx="726900" cy="280800"/>
            </a:xfrm>
            <a:prstGeom prst="straightConnector1">
              <a:avLst/>
            </a:prstGeom>
            <a:noFill/>
            <a:ln w="19050" cap="flat" cmpd="sng">
              <a:solidFill>
                <a:srgbClr val="000000"/>
              </a:solidFill>
              <a:prstDash val="solid"/>
              <a:round/>
              <a:headEnd type="none" w="med" len="med"/>
              <a:tailEnd type="none" w="med" len="med"/>
            </a:ln>
          </p:spPr>
        </p:cxnSp>
      </p:grpSp>
      <p:grpSp>
        <p:nvGrpSpPr>
          <p:cNvPr id="195" name="Google Shape;195;p22"/>
          <p:cNvGrpSpPr/>
          <p:nvPr/>
        </p:nvGrpSpPr>
        <p:grpSpPr>
          <a:xfrm>
            <a:off x="2077950" y="8366507"/>
            <a:ext cx="4125290" cy="613106"/>
            <a:chOff x="2077950" y="8366507"/>
            <a:chExt cx="4125290" cy="613106"/>
          </a:xfrm>
        </p:grpSpPr>
        <p:sp>
          <p:nvSpPr>
            <p:cNvPr id="196" name="Google Shape;196;p22"/>
            <p:cNvSpPr txBox="1"/>
            <p:nvPr/>
          </p:nvSpPr>
          <p:spPr>
            <a:xfrm>
              <a:off x="2077950" y="8510150"/>
              <a:ext cx="1746900" cy="469463"/>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000" b="1" dirty="0"/>
                <a:t>NCC: [NAME] [TYPE]</a:t>
              </a:r>
              <a:endParaRPr sz="1000" b="1"/>
            </a:p>
            <a:p>
              <a:pPr marL="0" lvl="0" indent="0" algn="l" rtl="0">
                <a:spcBef>
                  <a:spcPts val="0"/>
                </a:spcBef>
                <a:spcAft>
                  <a:spcPts val="0"/>
                </a:spcAft>
                <a:buNone/>
              </a:pPr>
              <a:r>
                <a:rPr lang="fr" sz="1000" b="1" dirty="0"/>
                <a:t>XX FT SW FROM DPI X</a:t>
              </a:r>
              <a:endParaRPr sz="1000" b="1"/>
            </a:p>
          </p:txBody>
        </p:sp>
        <p:cxnSp>
          <p:nvCxnSpPr>
            <p:cNvPr id="197" name="Google Shape;197;p22"/>
            <p:cNvCxnSpPr>
              <a:stCxn id="196" idx="3"/>
              <a:endCxn id="198" idx="1"/>
            </p:cNvCxnSpPr>
            <p:nvPr/>
          </p:nvCxnSpPr>
          <p:spPr>
            <a:xfrm flipV="1">
              <a:off x="3824850" y="8664072"/>
              <a:ext cx="1799097" cy="80810"/>
            </a:xfrm>
            <a:prstGeom prst="straightConnector1">
              <a:avLst/>
            </a:prstGeom>
            <a:noFill/>
            <a:ln w="19050" cap="flat" cmpd="sng">
              <a:solidFill>
                <a:srgbClr val="000000"/>
              </a:solidFill>
              <a:prstDash val="solid"/>
              <a:round/>
              <a:headEnd type="none" w="med" len="med"/>
              <a:tailEnd type="none" w="med" len="med"/>
            </a:ln>
          </p:spPr>
        </p:cxnSp>
        <p:sp>
          <p:nvSpPr>
            <p:cNvPr id="198" name="Google Shape;198;p22"/>
            <p:cNvSpPr/>
            <p:nvPr/>
          </p:nvSpPr>
          <p:spPr>
            <a:xfrm rot="-1453820">
              <a:off x="5597254" y="8366507"/>
              <a:ext cx="605986" cy="34643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04" name="Google Shape;204;p22"/>
          <p:cNvSpPr txBox="1"/>
          <p:nvPr/>
        </p:nvSpPr>
        <p:spPr>
          <a:xfrm>
            <a:off x="3186600" y="10141525"/>
            <a:ext cx="119334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[CDE]</a:t>
            </a:r>
            <a:endParaRPr b="1"/>
          </a:p>
        </p:txBody>
      </p:sp>
      <p:sp>
        <p:nvSpPr>
          <p:cNvPr id="205" name="Google Shape;205;p22"/>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206" name="Google Shape;206;p22"/>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pic>
        <p:nvPicPr>
          <p:cNvPr id="23"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grpSp>
        <p:nvGrpSpPr>
          <p:cNvPr id="29" name="Gruppe 28"/>
          <p:cNvGrpSpPr/>
          <p:nvPr/>
        </p:nvGrpSpPr>
        <p:grpSpPr>
          <a:xfrm>
            <a:off x="5312270" y="3375499"/>
            <a:ext cx="3903649" cy="3559557"/>
            <a:chOff x="6021186" y="4824155"/>
            <a:chExt cx="5955591" cy="5804504"/>
          </a:xfrm>
        </p:grpSpPr>
        <p:sp>
          <p:nvSpPr>
            <p:cNvPr id="27" name="Google Shape;202;p22"/>
            <p:cNvSpPr/>
            <p:nvPr/>
          </p:nvSpPr>
          <p:spPr>
            <a:xfrm>
              <a:off x="6021186" y="4824155"/>
              <a:ext cx="5955591" cy="5804504"/>
            </a:xfrm>
            <a:prstGeom prst="ellipse">
              <a:avLst/>
            </a:prstGeom>
            <a:no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 name="Ellipse 25"/>
            <p:cNvSpPr/>
            <p:nvPr/>
          </p:nvSpPr>
          <p:spPr>
            <a:xfrm>
              <a:off x="8957439" y="7681340"/>
              <a:ext cx="73027" cy="7151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Google Shape;200;p22"/>
          <p:cNvSpPr txBox="1"/>
          <p:nvPr/>
        </p:nvSpPr>
        <p:spPr>
          <a:xfrm>
            <a:off x="9069844" y="2650533"/>
            <a:ext cx="2033921" cy="262097"/>
          </a:xfrm>
          <a:prstGeom prst="rect">
            <a:avLst/>
          </a:prstGeom>
          <a:solidFill>
            <a:schemeClr val="lt1"/>
          </a:solidFill>
          <a:ln w="19050" cap="flat" cmpd="sng">
            <a:solidFill>
              <a:schemeClr val="tx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fr" sz="1000" b="1"/>
              <a:t>CER XXXM / XXXft</a:t>
            </a:r>
            <a:endParaRPr sz="1000" b="1"/>
          </a:p>
        </p:txBody>
      </p:sp>
      <p:cxnSp>
        <p:nvCxnSpPr>
          <p:cNvPr id="31" name="Google Shape;194;p22"/>
          <p:cNvCxnSpPr>
            <a:stCxn id="30" idx="2"/>
            <a:endCxn id="27" idx="7"/>
          </p:cNvCxnSpPr>
          <p:nvPr/>
        </p:nvCxnSpPr>
        <p:spPr>
          <a:xfrm rot="5400000">
            <a:off x="8873447" y="2683426"/>
            <a:ext cx="984154" cy="1442563"/>
          </a:xfrm>
          <a:prstGeom prst="straightConnector1">
            <a:avLst/>
          </a:prstGeom>
          <a:noFill/>
          <a:ln w="19050" cap="flat" cmpd="sng">
            <a:solidFill>
              <a:srgbClr val="000000"/>
            </a:solidFill>
            <a:prstDash val="solid"/>
            <a:round/>
            <a:headEnd type="none" w="med" len="med"/>
            <a:tailEnd type="none" w="med" len="med"/>
          </a:ln>
        </p:spPr>
      </p:cxnSp>
      <p:graphicFrame>
        <p:nvGraphicFramePr>
          <p:cNvPr id="36" name="Tabell 35"/>
          <p:cNvGraphicFramePr>
            <a:graphicFrameLocks noGrp="1"/>
          </p:cNvGraphicFramePr>
          <p:nvPr/>
        </p:nvGraphicFramePr>
        <p:xfrm>
          <a:off x="15380413" y="3557998"/>
          <a:ext cx="1972639" cy="2966720"/>
        </p:xfrm>
        <a:graphic>
          <a:graphicData uri="http://schemas.openxmlformats.org/drawingml/2006/table">
            <a:tbl>
              <a:tblPr firstRow="1" bandRow="1">
                <a:tableStyleId>{AE7EAA58-4EDA-4114-B047-75ABB572CC32}</a:tableStyleId>
              </a:tblPr>
              <a:tblGrid>
                <a:gridCol w="858679">
                  <a:extLst>
                    <a:ext uri="{9D8B030D-6E8A-4147-A177-3AD203B41FA5}">
                      <a16:colId xmlns:a16="http://schemas.microsoft.com/office/drawing/2014/main" val="20000"/>
                    </a:ext>
                  </a:extLst>
                </a:gridCol>
                <a:gridCol w="1113960">
                  <a:extLst>
                    <a:ext uri="{9D8B030D-6E8A-4147-A177-3AD203B41FA5}">
                      <a16:colId xmlns:a16="http://schemas.microsoft.com/office/drawing/2014/main" val="20001"/>
                    </a:ext>
                  </a:extLst>
                </a:gridCol>
              </a:tblGrid>
              <a:tr h="370840">
                <a:tc>
                  <a:txBody>
                    <a:bodyPr/>
                    <a:lstStyle/>
                    <a:p>
                      <a:pPr algn="ctr"/>
                      <a:r>
                        <a:rPr lang="en-US" b="1" dirty="0"/>
                        <a:t>METER</a:t>
                      </a:r>
                    </a:p>
                  </a:txBody>
                  <a:tcPr>
                    <a:solidFill>
                      <a:schemeClr val="bg1">
                        <a:lumMod val="75000"/>
                      </a:schemeClr>
                    </a:solidFill>
                  </a:tcPr>
                </a:tc>
                <a:tc>
                  <a:txBody>
                    <a:bodyPr/>
                    <a:lstStyle/>
                    <a:p>
                      <a:pPr algn="ctr"/>
                      <a:r>
                        <a:rPr lang="en-US" b="1" dirty="0"/>
                        <a:t>FEET</a:t>
                      </a:r>
                    </a:p>
                  </a:txBody>
                  <a:tcPr>
                    <a:solidFill>
                      <a:schemeClr val="bg1">
                        <a:lumMod val="75000"/>
                      </a:schemeClr>
                    </a:solidFill>
                  </a:tcPr>
                </a:tc>
                <a:extLst>
                  <a:ext uri="{0D108BD9-81ED-4DB2-BD59-A6C34878D82A}">
                    <a16:rowId xmlns:a16="http://schemas.microsoft.com/office/drawing/2014/main" val="10000"/>
                  </a:ext>
                </a:extLst>
              </a:tr>
              <a:tr h="370840">
                <a:tc>
                  <a:txBody>
                    <a:bodyPr/>
                    <a:lstStyle/>
                    <a:p>
                      <a:r>
                        <a:rPr lang="en-US" dirty="0"/>
                        <a:t>50</a:t>
                      </a:r>
                    </a:p>
                  </a:txBody>
                  <a:tcPr/>
                </a:tc>
                <a:tc>
                  <a:txBody>
                    <a:bodyPr/>
                    <a:lstStyle/>
                    <a:p>
                      <a:r>
                        <a:rPr lang="en-US" dirty="0"/>
                        <a:t>165</a:t>
                      </a:r>
                    </a:p>
                  </a:txBody>
                  <a:tcPr/>
                </a:tc>
                <a:extLst>
                  <a:ext uri="{0D108BD9-81ED-4DB2-BD59-A6C34878D82A}">
                    <a16:rowId xmlns:a16="http://schemas.microsoft.com/office/drawing/2014/main" val="10001"/>
                  </a:ext>
                </a:extLst>
              </a:tr>
              <a:tr h="370840">
                <a:tc>
                  <a:txBody>
                    <a:bodyPr/>
                    <a:lstStyle/>
                    <a:p>
                      <a:r>
                        <a:rPr lang="en-US" dirty="0"/>
                        <a:t>75</a:t>
                      </a:r>
                    </a:p>
                  </a:txBody>
                  <a:tcPr/>
                </a:tc>
                <a:tc>
                  <a:txBody>
                    <a:bodyPr/>
                    <a:lstStyle/>
                    <a:p>
                      <a:r>
                        <a:rPr lang="en-US" dirty="0"/>
                        <a:t>246</a:t>
                      </a:r>
                    </a:p>
                  </a:txBody>
                  <a:tcPr/>
                </a:tc>
                <a:extLst>
                  <a:ext uri="{0D108BD9-81ED-4DB2-BD59-A6C34878D82A}">
                    <a16:rowId xmlns:a16="http://schemas.microsoft.com/office/drawing/2014/main" val="10002"/>
                  </a:ext>
                </a:extLst>
              </a:tr>
              <a:tr h="370840">
                <a:tc>
                  <a:txBody>
                    <a:bodyPr/>
                    <a:lstStyle/>
                    <a:p>
                      <a:r>
                        <a:rPr lang="en-US" dirty="0"/>
                        <a:t>100</a:t>
                      </a:r>
                    </a:p>
                  </a:txBody>
                  <a:tcPr/>
                </a:tc>
                <a:tc>
                  <a:txBody>
                    <a:bodyPr/>
                    <a:lstStyle/>
                    <a:p>
                      <a:r>
                        <a:rPr lang="en-US" dirty="0"/>
                        <a:t>328</a:t>
                      </a:r>
                    </a:p>
                  </a:txBody>
                  <a:tcPr/>
                </a:tc>
                <a:extLst>
                  <a:ext uri="{0D108BD9-81ED-4DB2-BD59-A6C34878D82A}">
                    <a16:rowId xmlns:a16="http://schemas.microsoft.com/office/drawing/2014/main" val="10003"/>
                  </a:ext>
                </a:extLst>
              </a:tr>
              <a:tr h="370840">
                <a:tc>
                  <a:txBody>
                    <a:bodyPr/>
                    <a:lstStyle/>
                    <a:p>
                      <a:r>
                        <a:rPr lang="en-US" dirty="0"/>
                        <a:t>150</a:t>
                      </a:r>
                    </a:p>
                  </a:txBody>
                  <a:tcPr/>
                </a:tc>
                <a:tc>
                  <a:txBody>
                    <a:bodyPr/>
                    <a:lstStyle/>
                    <a:p>
                      <a:r>
                        <a:rPr lang="en-US" dirty="0"/>
                        <a:t>492</a:t>
                      </a:r>
                    </a:p>
                  </a:txBody>
                  <a:tcPr/>
                </a:tc>
                <a:extLst>
                  <a:ext uri="{0D108BD9-81ED-4DB2-BD59-A6C34878D82A}">
                    <a16:rowId xmlns:a16="http://schemas.microsoft.com/office/drawing/2014/main" val="10004"/>
                  </a:ext>
                </a:extLst>
              </a:tr>
              <a:tr h="370840">
                <a:tc>
                  <a:txBody>
                    <a:bodyPr/>
                    <a:lstStyle/>
                    <a:p>
                      <a:r>
                        <a:rPr lang="en-US" dirty="0"/>
                        <a:t>200</a:t>
                      </a:r>
                    </a:p>
                  </a:txBody>
                  <a:tcPr/>
                </a:tc>
                <a:tc>
                  <a:txBody>
                    <a:bodyPr/>
                    <a:lstStyle/>
                    <a:p>
                      <a:r>
                        <a:rPr lang="en-US" dirty="0"/>
                        <a:t>656</a:t>
                      </a:r>
                    </a:p>
                  </a:txBody>
                  <a:tcPr/>
                </a:tc>
                <a:extLst>
                  <a:ext uri="{0D108BD9-81ED-4DB2-BD59-A6C34878D82A}">
                    <a16:rowId xmlns:a16="http://schemas.microsoft.com/office/drawing/2014/main" val="10005"/>
                  </a:ext>
                </a:extLst>
              </a:tr>
              <a:tr h="370840">
                <a:tc>
                  <a:txBody>
                    <a:bodyPr/>
                    <a:lstStyle/>
                    <a:p>
                      <a:r>
                        <a:rPr lang="en-US" dirty="0"/>
                        <a:t>250</a:t>
                      </a:r>
                    </a:p>
                  </a:txBody>
                  <a:tcPr/>
                </a:tc>
                <a:tc>
                  <a:txBody>
                    <a:bodyPr/>
                    <a:lstStyle/>
                    <a:p>
                      <a:r>
                        <a:rPr lang="en-US" dirty="0"/>
                        <a:t>820</a:t>
                      </a:r>
                    </a:p>
                  </a:txBody>
                  <a:tcPr/>
                </a:tc>
                <a:extLst>
                  <a:ext uri="{0D108BD9-81ED-4DB2-BD59-A6C34878D82A}">
                    <a16:rowId xmlns:a16="http://schemas.microsoft.com/office/drawing/2014/main" val="10006"/>
                  </a:ext>
                </a:extLst>
              </a:tr>
              <a:tr h="370840">
                <a:tc>
                  <a:txBody>
                    <a:bodyPr/>
                    <a:lstStyle/>
                    <a:p>
                      <a:r>
                        <a:rPr lang="en-US" dirty="0"/>
                        <a:t>300</a:t>
                      </a:r>
                    </a:p>
                  </a:txBody>
                  <a:tcPr/>
                </a:tc>
                <a:tc>
                  <a:txBody>
                    <a:bodyPr/>
                    <a:lstStyle/>
                    <a:p>
                      <a:r>
                        <a:rPr lang="en-US" dirty="0"/>
                        <a:t>984</a:t>
                      </a:r>
                    </a:p>
                  </a:txBody>
                  <a:tcPr/>
                </a:tc>
                <a:extLst>
                  <a:ext uri="{0D108BD9-81ED-4DB2-BD59-A6C34878D82A}">
                    <a16:rowId xmlns:a16="http://schemas.microsoft.com/office/drawing/2014/main" val="10007"/>
                  </a:ext>
                </a:extLst>
              </a:tr>
            </a:tbl>
          </a:graphicData>
        </a:graphic>
      </p:graphicFrame>
      <p:pic>
        <p:nvPicPr>
          <p:cNvPr id="37"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cxnSp>
        <p:nvCxnSpPr>
          <p:cNvPr id="38" name="Google Shape;65;p14"/>
          <p:cNvCxnSpPr/>
          <p:nvPr/>
        </p:nvCxnSpPr>
        <p:spPr>
          <a:xfrm rot="10800000">
            <a:off x="15909206" y="1772528"/>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39" name="Google Shape;66;p14"/>
          <p:cNvSpPr txBox="1"/>
          <p:nvPr/>
        </p:nvSpPr>
        <p:spPr>
          <a:xfrm>
            <a:off x="15926606" y="2362464"/>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bg1"/>
                </a:solidFill>
              </a:rPr>
              <a:t>N</a:t>
            </a:r>
            <a:endParaRPr sz="3000" b="1">
              <a:solidFill>
                <a:schemeClr val="bg1"/>
              </a:solidFill>
            </a:endParaRPr>
          </a:p>
        </p:txBody>
      </p:sp>
      <p:sp>
        <p:nvSpPr>
          <p:cNvPr id="40" name="Rektangel 3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uppe 40"/>
          <p:cNvGrpSpPr/>
          <p:nvPr/>
        </p:nvGrpSpPr>
        <p:grpSpPr>
          <a:xfrm>
            <a:off x="-4080023" y="3486802"/>
            <a:ext cx="3903649" cy="3559557"/>
            <a:chOff x="6021186" y="4824155"/>
            <a:chExt cx="5955591" cy="5804504"/>
          </a:xfrm>
        </p:grpSpPr>
        <p:sp>
          <p:nvSpPr>
            <p:cNvPr id="42" name="Google Shape;202;p22"/>
            <p:cNvSpPr/>
            <p:nvPr/>
          </p:nvSpPr>
          <p:spPr>
            <a:xfrm>
              <a:off x="6021186" y="4824155"/>
              <a:ext cx="5955591" cy="5804504"/>
            </a:xfrm>
            <a:prstGeom prst="ellipse">
              <a:avLst/>
            </a:prstGeom>
            <a:noFill/>
            <a:ln w="19050" cap="flat"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 name="Ellipse 42"/>
            <p:cNvSpPr/>
            <p:nvPr/>
          </p:nvSpPr>
          <p:spPr>
            <a:xfrm>
              <a:off x="8957439" y="7681340"/>
              <a:ext cx="73027" cy="7151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églalap 2">
            <a:extLst>
              <a:ext uri="{FF2B5EF4-FFF2-40B4-BE49-F238E27FC236}">
                <a16:creationId xmlns:a16="http://schemas.microsoft.com/office/drawing/2014/main" id="{059B5B74-8787-0F68-47A8-B75E60FF796E}"/>
              </a:ext>
            </a:extLst>
          </p:cNvPr>
          <p:cNvSpPr/>
          <p:nvPr/>
        </p:nvSpPr>
        <p:spPr>
          <a:xfrm>
            <a:off x="582804" y="2559437"/>
            <a:ext cx="12575715" cy="7287948"/>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hu-HU"/>
              <a:t>NO COLLATERAL ISSUES</a:t>
            </a:r>
          </a:p>
          <a:p>
            <a:pPr algn="ctr"/>
            <a:endParaRPr lang="hu-HU"/>
          </a:p>
          <a:p>
            <a:pPr algn="ctr"/>
            <a:r>
              <a:rPr lang="hu-HU"/>
              <a:t>ALL WARHEADS ARE MINIMUMS, CAN BE LARGER PER AVAIL.</a:t>
            </a:r>
          </a:p>
        </p:txBody>
      </p:sp>
      <p:sp>
        <p:nvSpPr>
          <p:cNvPr id="4" name="Rektangel 11">
            <a:extLst>
              <a:ext uri="{FF2B5EF4-FFF2-40B4-BE49-F238E27FC236}">
                <a16:creationId xmlns:a16="http://schemas.microsoft.com/office/drawing/2014/main" id="{2E1DC460-E969-5AA3-04B8-C8C887BD1325}"/>
              </a:ext>
            </a:extLst>
          </p:cNvPr>
          <p:cNvSpPr/>
          <p:nvPr/>
        </p:nvSpPr>
        <p:spPr>
          <a:xfrm>
            <a:off x="10039179" y="685224"/>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graphicFrame>
        <p:nvGraphicFramePr>
          <p:cNvPr id="212" name="Google Shape;212;p23"/>
          <p:cNvGraphicFramePr/>
          <p:nvPr>
            <p:extLst>
              <p:ext uri="{D42A27DB-BD31-4B8C-83A1-F6EECF244321}">
                <p14:modId xmlns:p14="http://schemas.microsoft.com/office/powerpoint/2010/main" val="1935007152"/>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hu-HU" sz="2000" b="1"/>
                        <a:t>SRNTGT088 - </a:t>
                      </a:r>
                      <a:r>
                        <a:rPr lang="en-US" sz="2000" b="1"/>
                        <a:t>ARMY Fuel Storage (2nd Corps)</a:t>
                      </a:r>
                      <a:endParaRPr lang="hu-HU" sz="2000" b="1"/>
                    </a:p>
                    <a:p>
                      <a:pPr marL="0" lvl="0" indent="0" algn="l" rtl="0">
                        <a:spcBef>
                          <a:spcPts val="0"/>
                        </a:spcBef>
                        <a:spcAft>
                          <a:spcPts val="0"/>
                        </a:spcAft>
                        <a:buNone/>
                      </a:pPr>
                      <a:r>
                        <a:rPr lang="fr" sz="2000" b="1"/>
                        <a:t>COLLATERAL </a:t>
                      </a:r>
                      <a:r>
                        <a:rPr lang="fr" sz="2000" b="1" dirty="0"/>
                        <a:t>DAMAGES ESTIMATION </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13" name="Google Shape;213;p23"/>
          <p:cNvSpPr txBox="1"/>
          <p:nvPr/>
        </p:nvSpPr>
        <p:spPr>
          <a:xfrm>
            <a:off x="0" y="10151253"/>
            <a:ext cx="3186600" cy="55028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sp>
        <p:nvSpPr>
          <p:cNvPr id="214" name="Google Shape;214;p23"/>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graphicFrame>
        <p:nvGraphicFramePr>
          <p:cNvPr id="215" name="Google Shape;215;p23"/>
          <p:cNvGraphicFramePr/>
          <p:nvPr/>
        </p:nvGraphicFramePr>
        <p:xfrm>
          <a:off x="25" y="2625285"/>
          <a:ext cx="15119925" cy="6339450"/>
        </p:xfrm>
        <a:graphic>
          <a:graphicData uri="http://schemas.openxmlformats.org/drawingml/2006/table">
            <a:tbl>
              <a:tblPr>
                <a:noFill/>
                <a:tableStyleId>{85EE82D6-AF98-40BB-A63E-5EA55E4C3481}</a:tableStyleId>
              </a:tblPr>
              <a:tblGrid>
                <a:gridCol w="1096550">
                  <a:extLst>
                    <a:ext uri="{9D8B030D-6E8A-4147-A177-3AD203B41FA5}">
                      <a16:colId xmlns:a16="http://schemas.microsoft.com/office/drawing/2014/main" val="20000"/>
                    </a:ext>
                  </a:extLst>
                </a:gridCol>
                <a:gridCol w="2864850">
                  <a:extLst>
                    <a:ext uri="{9D8B030D-6E8A-4147-A177-3AD203B41FA5}">
                      <a16:colId xmlns:a16="http://schemas.microsoft.com/office/drawing/2014/main" val="20001"/>
                    </a:ext>
                  </a:extLst>
                </a:gridCol>
                <a:gridCol w="1228650">
                  <a:extLst>
                    <a:ext uri="{9D8B030D-6E8A-4147-A177-3AD203B41FA5}">
                      <a16:colId xmlns:a16="http://schemas.microsoft.com/office/drawing/2014/main" val="20002"/>
                    </a:ext>
                  </a:extLst>
                </a:gridCol>
                <a:gridCol w="2704075">
                  <a:extLst>
                    <a:ext uri="{9D8B030D-6E8A-4147-A177-3AD203B41FA5}">
                      <a16:colId xmlns:a16="http://schemas.microsoft.com/office/drawing/2014/main" val="20003"/>
                    </a:ext>
                  </a:extLst>
                </a:gridCol>
                <a:gridCol w="2704075">
                  <a:extLst>
                    <a:ext uri="{9D8B030D-6E8A-4147-A177-3AD203B41FA5}">
                      <a16:colId xmlns:a16="http://schemas.microsoft.com/office/drawing/2014/main" val="20004"/>
                    </a:ext>
                  </a:extLst>
                </a:gridCol>
                <a:gridCol w="4521725">
                  <a:extLst>
                    <a:ext uri="{9D8B030D-6E8A-4147-A177-3AD203B41FA5}">
                      <a16:colId xmlns:a16="http://schemas.microsoft.com/office/drawing/2014/main" val="20005"/>
                    </a:ext>
                  </a:extLst>
                </a:gridCol>
              </a:tblGrid>
              <a:tr h="487650">
                <a:tc gridSpan="6">
                  <a:txBody>
                    <a:bodyPr/>
                    <a:lstStyle/>
                    <a:p>
                      <a:pPr marL="0" lvl="0" indent="0" algn="ctr" rtl="0">
                        <a:spcBef>
                          <a:spcPts val="0"/>
                        </a:spcBef>
                        <a:spcAft>
                          <a:spcPts val="0"/>
                        </a:spcAft>
                        <a:buClr>
                          <a:schemeClr val="dk1"/>
                        </a:buClr>
                        <a:buSzPts val="1100"/>
                        <a:buFont typeface="Arial"/>
                        <a:buNone/>
                      </a:pPr>
                      <a:r>
                        <a:rPr lang="fr" sz="2000" b="1" dirty="0">
                          <a:solidFill>
                            <a:schemeClr val="dk1"/>
                          </a:solidFill>
                        </a:rPr>
                        <a:t>COLLATERAL DAMAGES WITHIN A 500M RADIUS</a:t>
                      </a:r>
                      <a:endParaRPr sz="20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0"/>
                  </a:ext>
                </a:extLst>
              </a:tr>
              <a:tr h="487650">
                <a:tc gridSpan="2">
                  <a:txBody>
                    <a:bodyPr/>
                    <a:lstStyle/>
                    <a:p>
                      <a:pPr marL="0" lvl="0" indent="0" algn="ctr" rtl="0">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hMerge="1">
                  <a:txBody>
                    <a:bodyPr/>
                    <a:lstStyle/>
                    <a:p>
                      <a:endParaRPr lang="nb-NO"/>
                    </a:p>
                  </a:txBody>
                  <a:tcPr/>
                </a:tc>
                <a:tc>
                  <a:txBody>
                    <a:bodyPr/>
                    <a:lstStyle/>
                    <a:p>
                      <a:pPr marL="0" lvl="0" indent="0" algn="ctr" rtl="0">
                        <a:spcBef>
                          <a:spcPts val="0"/>
                        </a:spcBef>
                        <a:spcAft>
                          <a:spcPts val="0"/>
                        </a:spcAft>
                        <a:buNone/>
                      </a:pPr>
                      <a:r>
                        <a:rPr lang="fr" sz="1600" b="1">
                          <a:solidFill>
                            <a:schemeClr val="lt1"/>
                          </a:solidFill>
                        </a:rPr>
                        <a:t>CATCODE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MIDB GEOS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LOCATION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REMARKS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1"/>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r>
                        <a:rPr lang="nb-NO" dirty="0">
                          <a:solidFill>
                            <a:schemeClr val="dk1"/>
                          </a:solidFill>
                        </a:rPr>
                        <a:t>N/A</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87650">
                <a:tc gridSpan="2">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87650">
                <a:tc gridSpan="6">
                  <a:txBody>
                    <a:bodyPr/>
                    <a:lstStyle/>
                    <a:p>
                      <a:pPr marL="0" lvl="0" indent="0" algn="ctr" rtl="0">
                        <a:spcBef>
                          <a:spcPts val="0"/>
                        </a:spcBef>
                        <a:spcAft>
                          <a:spcPts val="0"/>
                        </a:spcAft>
                        <a:buNone/>
                      </a:pPr>
                      <a:endParaRPr sz="1200"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6"/>
                  </a:ext>
                </a:extLst>
              </a:tr>
              <a:tr h="487650">
                <a:tc gridSpan="6">
                  <a:txBody>
                    <a:bodyPr/>
                    <a:lstStyle/>
                    <a:p>
                      <a:pPr marL="0" lvl="0" indent="0" algn="ctr" rtl="0">
                        <a:spcBef>
                          <a:spcPts val="0"/>
                        </a:spcBef>
                        <a:spcAft>
                          <a:spcPts val="0"/>
                        </a:spcAft>
                        <a:buNone/>
                      </a:pPr>
                      <a:r>
                        <a:rPr lang="fr" sz="2000" b="1">
                          <a:solidFill>
                            <a:schemeClr val="dk1"/>
                          </a:solidFill>
                        </a:rPr>
                        <a:t>NO STRIKE ENTITIES WITHIN A 500M RADIUS</a:t>
                      </a:r>
                      <a:endParaRPr sz="1200"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7"/>
                  </a:ext>
                </a:extLst>
              </a:tr>
              <a:tr h="487650">
                <a:tc>
                  <a:txBody>
                    <a:bodyPr/>
                    <a:lstStyle/>
                    <a:p>
                      <a:pPr marL="0" lvl="0" indent="0" algn="ctr" rtl="0">
                        <a:spcBef>
                          <a:spcPts val="0"/>
                        </a:spcBef>
                        <a:spcAft>
                          <a:spcPts val="0"/>
                        </a:spcAft>
                        <a:buNone/>
                      </a:pPr>
                      <a:r>
                        <a:rPr lang="fr" sz="1600" b="1">
                          <a:solidFill>
                            <a:schemeClr val="lt1"/>
                          </a:solidFill>
                        </a:rPr>
                        <a:t>NSE ID</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DESCRIPTION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CATCODE</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MIDB GEOS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LOCATION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a:txBody>
                    <a:bodyPr/>
                    <a:lstStyle/>
                    <a:p>
                      <a:pPr marL="0" lvl="0" indent="0" algn="ctr" rtl="0">
                        <a:lnSpc>
                          <a:spcPct val="115000"/>
                        </a:lnSpc>
                        <a:spcBef>
                          <a:spcPts val="0"/>
                        </a:spcBef>
                        <a:spcAft>
                          <a:spcPts val="0"/>
                        </a:spcAft>
                        <a:buNone/>
                      </a:pPr>
                      <a:r>
                        <a:rPr lang="fr" sz="1600" b="1">
                          <a:solidFill>
                            <a:schemeClr val="lt1"/>
                          </a:solidFill>
                        </a:rPr>
                        <a:t>REMARKS</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8"/>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100"/>
                        <a:buFont typeface="Arial"/>
                        <a:buNone/>
                        <a:tabLst/>
                        <a:defRPr/>
                      </a:pPr>
                      <a:r>
                        <a:rPr lang="nb-NO" dirty="0">
                          <a:solidFill>
                            <a:schemeClr val="dk1"/>
                          </a:solidFill>
                        </a:rPr>
                        <a:t>N/A</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487650">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pic>
        <p:nvPicPr>
          <p:cNvPr id="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9"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10" name="Rektangel 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ktangel 11">
            <a:extLst>
              <a:ext uri="{FF2B5EF4-FFF2-40B4-BE49-F238E27FC236}">
                <a16:creationId xmlns:a16="http://schemas.microsoft.com/office/drawing/2014/main" id="{19F4A736-23A9-CAE5-C19E-1EF6CEF1F29D}"/>
              </a:ext>
            </a:extLst>
          </p:cNvPr>
          <p:cNvSpPr/>
          <p:nvPr/>
        </p:nvSpPr>
        <p:spPr>
          <a:xfrm>
            <a:off x="10037029" y="708165"/>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4" name="Kép 3" descr="A képen térkép, Légi fotó, Madártávlat, légi látható&#10;&#10;Automatikusan generált leírás">
            <a:extLst>
              <a:ext uri="{FF2B5EF4-FFF2-40B4-BE49-F238E27FC236}">
                <a16:creationId xmlns:a16="http://schemas.microsoft.com/office/drawing/2014/main" id="{48F2BAC5-40A6-D7B7-2215-08872D4CBFD9}"/>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20000" contrast="40000"/>
                    </a14:imgEffect>
                  </a14:imgLayer>
                </a14:imgProps>
              </a:ext>
            </a:extLst>
          </a:blip>
          <a:stretch>
            <a:fillRect/>
          </a:stretch>
        </p:blipFill>
        <p:spPr>
          <a:xfrm>
            <a:off x="0" y="1912035"/>
            <a:ext cx="15119350" cy="8504634"/>
          </a:xfrm>
          <a:prstGeom prst="rect">
            <a:avLst/>
          </a:prstGeom>
        </p:spPr>
      </p:pic>
      <p:graphicFrame>
        <p:nvGraphicFramePr>
          <p:cNvPr id="87" name="Google Shape;87;p16"/>
          <p:cNvGraphicFramePr/>
          <p:nvPr>
            <p:extLst>
              <p:ext uri="{D42A27DB-BD31-4B8C-83A1-F6EECF244321}">
                <p14:modId xmlns:p14="http://schemas.microsoft.com/office/powerpoint/2010/main" val="3479335660"/>
              </p:ext>
            </p:extLst>
          </p:nvPr>
        </p:nvGraphicFramePr>
        <p:xfrm>
          <a:off x="0" y="0"/>
          <a:ext cx="15135225" cy="10692163"/>
        </p:xfrm>
        <a:graphic>
          <a:graphicData uri="http://schemas.openxmlformats.org/drawingml/2006/table">
            <a:tbl>
              <a:tblPr>
                <a:noFill/>
                <a:tableStyleId>{AE7EAA58-4EDA-4114-B047-75ABB572CC32}</a:tableStyleId>
              </a:tblPr>
              <a:tblGrid>
                <a:gridCol w="2372636">
                  <a:extLst>
                    <a:ext uri="{9D8B030D-6E8A-4147-A177-3AD203B41FA5}">
                      <a16:colId xmlns:a16="http://schemas.microsoft.com/office/drawing/2014/main" val="20000"/>
                    </a:ext>
                  </a:extLst>
                </a:gridCol>
                <a:gridCol w="6424053">
                  <a:extLst>
                    <a:ext uri="{9D8B030D-6E8A-4147-A177-3AD203B41FA5}">
                      <a16:colId xmlns:a16="http://schemas.microsoft.com/office/drawing/2014/main" val="20001"/>
                    </a:ext>
                  </a:extLst>
                </a:gridCol>
                <a:gridCol w="2163804">
                  <a:extLst>
                    <a:ext uri="{9D8B030D-6E8A-4147-A177-3AD203B41FA5}">
                      <a16:colId xmlns:a16="http://schemas.microsoft.com/office/drawing/2014/main" val="20002"/>
                    </a:ext>
                  </a:extLst>
                </a:gridCol>
                <a:gridCol w="4174732">
                  <a:extLst>
                    <a:ext uri="{9D8B030D-6E8A-4147-A177-3AD203B41FA5}">
                      <a16:colId xmlns:a16="http://schemas.microsoft.com/office/drawing/2014/main" val="20003"/>
                    </a:ext>
                  </a:extLst>
                </a:gridCol>
              </a:tblGrid>
              <a:tr h="792100">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 sz="2000" b="1"/>
                        <a:t>[</a:t>
                      </a:r>
                      <a:r>
                        <a:rPr lang="hu-HU" sz="2000" b="1"/>
                        <a:t>SRNTGT088 - </a:t>
                      </a:r>
                      <a:r>
                        <a:rPr lang="en-US" sz="2000" b="1"/>
                        <a:t>ARMY Fuel Storage (2nd Corps)</a:t>
                      </a:r>
                      <a:r>
                        <a:rPr lang="fr" sz="2000" b="1"/>
                        <a:t>]</a:t>
                      </a:r>
                      <a:endParaRPr sz="2000" b="1"/>
                    </a:p>
                    <a:p>
                      <a:pPr marL="0" lvl="0" indent="0" algn="l" rtl="0">
                        <a:spcBef>
                          <a:spcPts val="0"/>
                        </a:spcBef>
                        <a:spcAft>
                          <a:spcPts val="0"/>
                        </a:spcAft>
                        <a:buNone/>
                      </a:pPr>
                      <a:r>
                        <a:rPr lang="fr" sz="2000" b="1"/>
                        <a:t>COLLOCATED FACILITY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470">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2243">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88" name="Google Shape;88;p16"/>
          <p:cNvGrpSpPr/>
          <p:nvPr/>
        </p:nvGrpSpPr>
        <p:grpSpPr>
          <a:xfrm rot="815808">
            <a:off x="11799923" y="2791011"/>
            <a:ext cx="519600" cy="1236436"/>
            <a:chOff x="4246325" y="4458364"/>
            <a:chExt cx="519600" cy="1236436"/>
          </a:xfrm>
        </p:grpSpPr>
        <p:cxnSp>
          <p:nvCxnSpPr>
            <p:cNvPr id="89" name="Google Shape;89;p16"/>
            <p:cNvCxnSpPr/>
            <p:nvPr/>
          </p:nvCxnSpPr>
          <p:spPr>
            <a:xfrm rot="10800000">
              <a:off x="4246325" y="4458364"/>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90" name="Google Shape;90;p16"/>
            <p:cNvSpPr txBox="1"/>
            <p:nvPr/>
          </p:nvSpPr>
          <p:spPr>
            <a:xfrm>
              <a:off x="4263725" y="5048300"/>
              <a:ext cx="502200" cy="646500"/>
            </a:xfrm>
            <a:prstGeom prst="rect">
              <a:avLst/>
            </a:prstGeom>
            <a:noFill/>
            <a:ln>
              <a:solidFill>
                <a:schemeClr val="bg1"/>
              </a:solid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solidFill>
                    <a:schemeClr val="bg1"/>
                  </a:solidFill>
                </a:rPr>
                <a:t>N</a:t>
              </a:r>
              <a:endParaRPr sz="3000" b="1">
                <a:solidFill>
                  <a:schemeClr val="bg1"/>
                </a:solidFill>
              </a:endParaRPr>
            </a:p>
          </p:txBody>
        </p:sp>
      </p:grpSp>
      <p:pic>
        <p:nvPicPr>
          <p:cNvPr id="97" name="Google Shape;97;p16">
            <a:hlinkClick r:id="rId5"/>
          </p:cNvPr>
          <p:cNvPicPr preferRelativeResize="0"/>
          <p:nvPr/>
        </p:nvPicPr>
        <p:blipFill rotWithShape="1">
          <a:blip r:embed="rId6">
            <a:alphaModFix/>
          </a:blip>
          <a:srcRect r="-2532" b="-2501"/>
          <a:stretch/>
        </p:blipFill>
        <p:spPr>
          <a:xfrm>
            <a:off x="435875" y="164488"/>
            <a:ext cx="1575817" cy="1620000"/>
          </a:xfrm>
          <a:prstGeom prst="rect">
            <a:avLst/>
          </a:prstGeom>
          <a:noFill/>
          <a:ln>
            <a:noFill/>
          </a:ln>
        </p:spPr>
      </p:pic>
      <p:cxnSp>
        <p:nvCxnSpPr>
          <p:cNvPr id="16" name="Google Shape;93;p16">
            <a:extLst>
              <a:ext uri="{FF2B5EF4-FFF2-40B4-BE49-F238E27FC236}">
                <a16:creationId xmlns:a16="http://schemas.microsoft.com/office/drawing/2014/main" id="{A4ABEF95-022E-2C24-2FC9-95A540C66BD5}"/>
              </a:ext>
            </a:extLst>
          </p:cNvPr>
          <p:cNvCxnSpPr>
            <a:cxnSpLocks/>
          </p:cNvCxnSpPr>
          <p:nvPr/>
        </p:nvCxnSpPr>
        <p:spPr>
          <a:xfrm flipV="1">
            <a:off x="2349795" y="3733245"/>
            <a:ext cx="1534633" cy="1568122"/>
          </a:xfrm>
          <a:prstGeom prst="straightConnector1">
            <a:avLst/>
          </a:prstGeom>
          <a:noFill/>
          <a:ln w="19050" cap="flat" cmpd="sng">
            <a:solidFill>
              <a:srgbClr val="000000"/>
            </a:solidFill>
            <a:prstDash val="solid"/>
            <a:round/>
            <a:headEnd type="none" w="med" len="med"/>
            <a:tailEnd type="none" w="med" len="med"/>
          </a:ln>
        </p:spPr>
      </p:cxnSp>
      <p:grpSp>
        <p:nvGrpSpPr>
          <p:cNvPr id="17" name="Google Shape;91;p16">
            <a:extLst>
              <a:ext uri="{FF2B5EF4-FFF2-40B4-BE49-F238E27FC236}">
                <a16:creationId xmlns:a16="http://schemas.microsoft.com/office/drawing/2014/main" id="{5800281D-BF0E-AEA8-D94C-E647BC372135}"/>
              </a:ext>
            </a:extLst>
          </p:cNvPr>
          <p:cNvGrpSpPr/>
          <p:nvPr/>
        </p:nvGrpSpPr>
        <p:grpSpPr>
          <a:xfrm>
            <a:off x="8658225" y="7709733"/>
            <a:ext cx="4829467" cy="1812061"/>
            <a:chOff x="3766166" y="8450558"/>
            <a:chExt cx="4829467" cy="1812061"/>
          </a:xfrm>
        </p:grpSpPr>
        <p:sp>
          <p:nvSpPr>
            <p:cNvPr id="18" name="Google Shape;92;p16">
              <a:extLst>
                <a:ext uri="{FF2B5EF4-FFF2-40B4-BE49-F238E27FC236}">
                  <a16:creationId xmlns:a16="http://schemas.microsoft.com/office/drawing/2014/main" id="{A6668EE5-769E-0282-BC1A-DDC63478B4A9}"/>
                </a:ext>
              </a:extLst>
            </p:cNvPr>
            <p:cNvSpPr txBox="1"/>
            <p:nvPr/>
          </p:nvSpPr>
          <p:spPr>
            <a:xfrm>
              <a:off x="5863795" y="9760419"/>
              <a:ext cx="2731838" cy="502200"/>
            </a:xfrm>
            <a:prstGeom prst="rect">
              <a:avLst/>
            </a:prstGeom>
            <a:ln>
              <a:headEnd type="none" w="sm" len="sm"/>
              <a:tailEnd type="none" w="sm" len="sm"/>
            </a:ln>
          </p:spPr>
          <p:style>
            <a:lnRef idx="2">
              <a:schemeClr val="accent4">
                <a:shade val="15000"/>
              </a:schemeClr>
            </a:lnRef>
            <a:fillRef idx="1">
              <a:schemeClr val="accent4"/>
            </a:fillRef>
            <a:effectRef idx="0">
              <a:schemeClr val="accent4"/>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r>
                <a:rPr lang="hu-HU" b="1">
                  <a:solidFill>
                    <a:schemeClr val="dk1"/>
                  </a:solidFill>
                </a:rPr>
                <a:t>SRNTGT088 - </a:t>
              </a:r>
              <a:r>
                <a:rPr lang="en-US" b="1">
                  <a:solidFill>
                    <a:schemeClr val="dk1"/>
                  </a:solidFill>
                </a:rPr>
                <a:t>ARMY Fuel Storage (2nd Corps)</a:t>
              </a:r>
              <a:endParaRPr b="1">
                <a:solidFill>
                  <a:schemeClr val="dk1"/>
                </a:solidFill>
              </a:endParaRPr>
            </a:p>
          </p:txBody>
        </p:sp>
        <p:cxnSp>
          <p:nvCxnSpPr>
            <p:cNvPr id="19" name="Google Shape;93;p16">
              <a:extLst>
                <a:ext uri="{FF2B5EF4-FFF2-40B4-BE49-F238E27FC236}">
                  <a16:creationId xmlns:a16="http://schemas.microsoft.com/office/drawing/2014/main" id="{AF38D5CB-6CE4-1FB0-8E58-AB92BE9534E4}"/>
                </a:ext>
              </a:extLst>
            </p:cNvPr>
            <p:cNvCxnSpPr>
              <a:cxnSpLocks/>
              <a:stCxn id="18" idx="0"/>
            </p:cNvCxnSpPr>
            <p:nvPr/>
          </p:nvCxnSpPr>
          <p:spPr>
            <a:xfrm flipH="1" flipV="1">
              <a:off x="3766166" y="8450558"/>
              <a:ext cx="3463548" cy="1309861"/>
            </a:xfrm>
            <a:prstGeom prst="straightConnector1">
              <a:avLst/>
            </a:prstGeom>
            <a:noFill/>
            <a:ln w="19050" cap="flat" cmpd="sng">
              <a:solidFill>
                <a:schemeClr val="bg1"/>
              </a:solidFill>
              <a:prstDash val="solid"/>
              <a:round/>
              <a:headEnd type="none" w="med" len="med"/>
              <a:tailEnd type="none" w="med" len="med"/>
            </a:ln>
          </p:spPr>
        </p:cxnSp>
      </p:grpSp>
      <p:cxnSp>
        <p:nvCxnSpPr>
          <p:cNvPr id="22" name="Google Shape;93;p16">
            <a:extLst>
              <a:ext uri="{FF2B5EF4-FFF2-40B4-BE49-F238E27FC236}">
                <a16:creationId xmlns:a16="http://schemas.microsoft.com/office/drawing/2014/main" id="{756143E6-24D0-46CA-699D-E778C71E459E}"/>
              </a:ext>
            </a:extLst>
          </p:cNvPr>
          <p:cNvCxnSpPr>
            <a:cxnSpLocks/>
          </p:cNvCxnSpPr>
          <p:nvPr/>
        </p:nvCxnSpPr>
        <p:spPr>
          <a:xfrm flipV="1">
            <a:off x="6514553" y="6609084"/>
            <a:ext cx="898816" cy="1100649"/>
          </a:xfrm>
          <a:prstGeom prst="straightConnector1">
            <a:avLst/>
          </a:prstGeom>
          <a:noFill/>
          <a:ln w="19050" cap="flat" cmpd="sng">
            <a:solidFill>
              <a:srgbClr val="000000"/>
            </a:solidFill>
            <a:prstDash val="solid"/>
            <a:round/>
            <a:headEnd type="none" w="med" len="med"/>
            <a:tailEnd type="none" w="med" len="med"/>
          </a:ln>
        </p:spPr>
      </p:cxnSp>
      <p:grpSp>
        <p:nvGrpSpPr>
          <p:cNvPr id="31" name="Google Shape;91;p16">
            <a:extLst>
              <a:ext uri="{FF2B5EF4-FFF2-40B4-BE49-F238E27FC236}">
                <a16:creationId xmlns:a16="http://schemas.microsoft.com/office/drawing/2014/main" id="{E50B8319-C6CD-DB58-1536-13A8C614E2C9}"/>
              </a:ext>
            </a:extLst>
          </p:cNvPr>
          <p:cNvGrpSpPr/>
          <p:nvPr/>
        </p:nvGrpSpPr>
        <p:grpSpPr>
          <a:xfrm>
            <a:off x="828675" y="6871477"/>
            <a:ext cx="3701500" cy="1177148"/>
            <a:chOff x="81182" y="7106943"/>
            <a:chExt cx="3701500" cy="1177148"/>
          </a:xfrm>
        </p:grpSpPr>
        <p:sp>
          <p:nvSpPr>
            <p:cNvPr id="32" name="Google Shape;92;p16">
              <a:extLst>
                <a:ext uri="{FF2B5EF4-FFF2-40B4-BE49-F238E27FC236}">
                  <a16:creationId xmlns:a16="http://schemas.microsoft.com/office/drawing/2014/main" id="{D7C2A848-9799-8E3C-53B2-1336E3AFD407}"/>
                </a:ext>
              </a:extLst>
            </p:cNvPr>
            <p:cNvSpPr txBox="1"/>
            <p:nvPr/>
          </p:nvSpPr>
          <p:spPr>
            <a:xfrm>
              <a:off x="1050844" y="7106943"/>
              <a:ext cx="2731838"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b="1">
                  <a:solidFill>
                    <a:schemeClr val="dk1"/>
                  </a:solidFill>
                </a:rPr>
                <a:t>SRNTGT061 - Notian Army 2nd Corps HQ</a:t>
              </a:r>
              <a:endParaRPr b="1">
                <a:solidFill>
                  <a:schemeClr val="dk1"/>
                </a:solidFill>
              </a:endParaRPr>
            </a:p>
          </p:txBody>
        </p:sp>
        <p:cxnSp>
          <p:nvCxnSpPr>
            <p:cNvPr id="33" name="Google Shape;93;p16">
              <a:extLst>
                <a:ext uri="{FF2B5EF4-FFF2-40B4-BE49-F238E27FC236}">
                  <a16:creationId xmlns:a16="http://schemas.microsoft.com/office/drawing/2014/main" id="{8DF1CFCE-A617-D25C-6F8D-026E0FF3DE92}"/>
                </a:ext>
              </a:extLst>
            </p:cNvPr>
            <p:cNvCxnSpPr>
              <a:cxnSpLocks/>
            </p:cNvCxnSpPr>
            <p:nvPr/>
          </p:nvCxnSpPr>
          <p:spPr>
            <a:xfrm flipH="1">
              <a:off x="81182" y="7377670"/>
              <a:ext cx="969012" cy="906421"/>
            </a:xfrm>
            <a:prstGeom prst="straightConnector1">
              <a:avLst/>
            </a:prstGeom>
            <a:noFill/>
            <a:ln w="19050" cap="flat" cmpd="sng">
              <a:solidFill>
                <a:schemeClr val="bg1"/>
              </a:solidFill>
              <a:prstDash val="solid"/>
              <a:round/>
              <a:headEnd type="none" w="med" len="med"/>
              <a:tailEnd type="none" w="med" len="med"/>
            </a:ln>
          </p:spPr>
        </p:cxnSp>
      </p:grpSp>
      <p:pic>
        <p:nvPicPr>
          <p:cNvPr id="41" name="Picture 3">
            <a:extLst>
              <a:ext uri="{FF2B5EF4-FFF2-40B4-BE49-F238E27FC236}">
                <a16:creationId xmlns:a16="http://schemas.microsoft.com/office/drawing/2014/main" id="{355154FA-03D0-9F22-A256-9B72A4C9DB00}"/>
              </a:ext>
            </a:extLst>
          </p:cNvPr>
          <p:cNvPicPr>
            <a:picLocks noChangeAspect="1" noChangeArrowheads="1"/>
          </p:cNvPicPr>
          <p:nvPr/>
        </p:nvPicPr>
        <p:blipFill>
          <a:blip r:embed="rId7" cstate="screen"/>
          <a:srcRect b="514"/>
          <a:stretch>
            <a:fillRect/>
          </a:stretch>
        </p:blipFill>
        <p:spPr bwMode="auto">
          <a:xfrm>
            <a:off x="8659708" y="0"/>
            <a:ext cx="2276553" cy="1888331"/>
          </a:xfrm>
          <a:prstGeom prst="rect">
            <a:avLst/>
          </a:prstGeom>
          <a:noFill/>
          <a:ln w="9525">
            <a:solidFill>
              <a:schemeClr val="tx1"/>
            </a:solidFill>
            <a:miter lim="800000"/>
            <a:headEnd/>
            <a:tailEnd/>
          </a:ln>
          <a:effectLst/>
        </p:spPr>
      </p:pic>
      <p:sp>
        <p:nvSpPr>
          <p:cNvPr id="42" name="Rektangel 11">
            <a:extLst>
              <a:ext uri="{FF2B5EF4-FFF2-40B4-BE49-F238E27FC236}">
                <a16:creationId xmlns:a16="http://schemas.microsoft.com/office/drawing/2014/main" id="{10500496-63A9-C475-FD69-93CF35E725DC}"/>
              </a:ext>
            </a:extLst>
          </p:cNvPr>
          <p:cNvSpPr/>
          <p:nvPr/>
        </p:nvSpPr>
        <p:spPr>
          <a:xfrm>
            <a:off x="9590487" y="67471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Google Shape;266;p26">
            <a:extLst>
              <a:ext uri="{FF2B5EF4-FFF2-40B4-BE49-F238E27FC236}">
                <a16:creationId xmlns:a16="http://schemas.microsoft.com/office/drawing/2014/main" id="{8E0F868C-BD4A-4A0E-1E27-97E98EFE7E04}"/>
              </a:ext>
            </a:extLst>
          </p:cNvPr>
          <p:cNvSpPr txBox="1"/>
          <p:nvPr/>
        </p:nvSpPr>
        <p:spPr>
          <a:xfrm>
            <a:off x="11239054" y="1746032"/>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sp>
        <p:nvSpPr>
          <p:cNvPr id="6" name="Szabadkézi sokszög: alakzat 5">
            <a:extLst>
              <a:ext uri="{FF2B5EF4-FFF2-40B4-BE49-F238E27FC236}">
                <a16:creationId xmlns:a16="http://schemas.microsoft.com/office/drawing/2014/main" id="{C3181970-9DA4-DDE6-0F2D-22D7E57A7DCD}"/>
              </a:ext>
            </a:extLst>
          </p:cNvPr>
          <p:cNvSpPr/>
          <p:nvPr/>
        </p:nvSpPr>
        <p:spPr>
          <a:xfrm>
            <a:off x="390903" y="8048625"/>
            <a:ext cx="590550" cy="466725"/>
          </a:xfrm>
          <a:custGeom>
            <a:avLst/>
            <a:gdLst>
              <a:gd name="connsiteX0" fmla="*/ 504825 w 590550"/>
              <a:gd name="connsiteY0" fmla="*/ 0 h 466725"/>
              <a:gd name="connsiteX1" fmla="*/ 590550 w 590550"/>
              <a:gd name="connsiteY1" fmla="*/ 333375 h 466725"/>
              <a:gd name="connsiteX2" fmla="*/ 0 w 590550"/>
              <a:gd name="connsiteY2" fmla="*/ 466725 h 466725"/>
              <a:gd name="connsiteX3" fmla="*/ 9525 w 590550"/>
              <a:gd name="connsiteY3" fmla="*/ 95250 h 466725"/>
              <a:gd name="connsiteX4" fmla="*/ 504825 w 590550"/>
              <a:gd name="connsiteY4" fmla="*/ 0 h 466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466725">
                <a:moveTo>
                  <a:pt x="504825" y="0"/>
                </a:moveTo>
                <a:lnTo>
                  <a:pt x="590550" y="333375"/>
                </a:lnTo>
                <a:lnTo>
                  <a:pt x="0" y="466725"/>
                </a:lnTo>
                <a:lnTo>
                  <a:pt x="9525" y="95250"/>
                </a:lnTo>
                <a:lnTo>
                  <a:pt x="504825" y="0"/>
                </a:ln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6" name="Szabadkézi sokszög: alakzat 25">
            <a:extLst>
              <a:ext uri="{FF2B5EF4-FFF2-40B4-BE49-F238E27FC236}">
                <a16:creationId xmlns:a16="http://schemas.microsoft.com/office/drawing/2014/main" id="{92170BC0-0F40-A55D-DED7-206E522FDBCE}"/>
              </a:ext>
            </a:extLst>
          </p:cNvPr>
          <p:cNvSpPr/>
          <p:nvPr/>
        </p:nvSpPr>
        <p:spPr>
          <a:xfrm>
            <a:off x="7467600" y="7207533"/>
            <a:ext cx="1219200" cy="1107792"/>
          </a:xfrm>
          <a:custGeom>
            <a:avLst/>
            <a:gdLst>
              <a:gd name="connsiteX0" fmla="*/ 1219200 w 1219200"/>
              <a:gd name="connsiteY0" fmla="*/ 238125 h 1390650"/>
              <a:gd name="connsiteX1" fmla="*/ 1028700 w 1219200"/>
              <a:gd name="connsiteY1" fmla="*/ 1390650 h 1390650"/>
              <a:gd name="connsiteX2" fmla="*/ 0 w 1219200"/>
              <a:gd name="connsiteY2" fmla="*/ 1200150 h 1390650"/>
              <a:gd name="connsiteX3" fmla="*/ 247650 w 1219200"/>
              <a:gd name="connsiteY3" fmla="*/ 0 h 1390650"/>
              <a:gd name="connsiteX4" fmla="*/ 1219200 w 1219200"/>
              <a:gd name="connsiteY4" fmla="*/ 238125 h 13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 h="1390650">
                <a:moveTo>
                  <a:pt x="1219200" y="238125"/>
                </a:moveTo>
                <a:lnTo>
                  <a:pt x="1028700" y="1390650"/>
                </a:lnTo>
                <a:lnTo>
                  <a:pt x="0" y="1200150"/>
                </a:lnTo>
                <a:lnTo>
                  <a:pt x="247650" y="0"/>
                </a:lnTo>
                <a:lnTo>
                  <a:pt x="1219200" y="238125"/>
                </a:ln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graphicFrame>
        <p:nvGraphicFramePr>
          <p:cNvPr id="256" name="Google Shape;256;p26"/>
          <p:cNvGraphicFramePr/>
          <p:nvPr>
            <p:extLst>
              <p:ext uri="{D42A27DB-BD31-4B8C-83A1-F6EECF244321}">
                <p14:modId xmlns:p14="http://schemas.microsoft.com/office/powerpoint/2010/main" val="1366193272"/>
              </p:ext>
            </p:extLst>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hu-HU" sz="2000" b="1"/>
                        <a:t>SRNTGT088 - </a:t>
                      </a:r>
                      <a:r>
                        <a:rPr lang="en-US" sz="2000" b="1"/>
                        <a:t>ARMY Fuel Storage (2nd Corps)</a:t>
                      </a:r>
                      <a:endParaRPr lang="hu-HU" sz="2000" b="1"/>
                    </a:p>
                    <a:p>
                      <a:pPr marL="0" lvl="0" indent="0" algn="l" rtl="0">
                        <a:spcBef>
                          <a:spcPts val="0"/>
                        </a:spcBef>
                        <a:spcAft>
                          <a:spcPts val="0"/>
                        </a:spcAft>
                        <a:buNone/>
                      </a:pPr>
                      <a:r>
                        <a:rPr lang="fr" sz="2000" b="1"/>
                        <a:t>BATTLE </a:t>
                      </a:r>
                      <a:r>
                        <a:rPr lang="fr" sz="2000" b="1" dirty="0"/>
                        <a:t>DAMAGE ASSESSMENT GRAPHIC</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en-US" sz="1900" b="1" dirty="0"/>
                        <a:t>OPAC</a:t>
                      </a:r>
                      <a:r>
                        <a:rPr lang="en-US" sz="1900" b="1" baseline="0" dirty="0"/>
                        <a:t> CLASSIFIED</a:t>
                      </a:r>
                      <a:endParaRPr lang="en-US" sz="1900" b="1" dirty="0"/>
                    </a:p>
                    <a:p>
                      <a:pPr marL="0" lvl="0" indent="0" algn="ctr" rtl="0">
                        <a:spcBef>
                          <a:spcPts val="0"/>
                        </a:spcBef>
                        <a:spcAft>
                          <a:spcPts val="0"/>
                        </a:spcAft>
                        <a:buNone/>
                      </a:pPr>
                      <a:r>
                        <a:rPr lang="en-US" sz="1900" b="1" dirty="0"/>
                        <a:t>REL TO CJTF-23</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hu-HU" sz="1500" b="1"/>
                        <a:t>BE: SRNTGT088   CATCODE: 7</a:t>
                      </a:r>
                    </a:p>
                    <a:p>
                      <a:pPr marL="0" lvl="0" indent="0" algn="l" rtl="0">
                        <a:spcBef>
                          <a:spcPts val="0"/>
                        </a:spcBef>
                        <a:spcAft>
                          <a:spcPts val="0"/>
                        </a:spcAft>
                        <a:buNone/>
                      </a:pPr>
                      <a:r>
                        <a:rPr lang="hu-HU" sz="1500" b="1"/>
                        <a:t>MIDB GEO: </a:t>
                      </a:r>
                      <a:r>
                        <a:rPr lang="pt-BR" sz="1500" b="1"/>
                        <a:t>[N 69 26.053 E 030 54.534]</a:t>
                      </a:r>
                      <a:endParaRPr lang="hu-HU" sz="1500" b="1"/>
                    </a:p>
                    <a:p>
                      <a:pPr marL="0" lvl="0" indent="0" algn="l" rtl="0">
                        <a:spcBef>
                          <a:spcPts val="0"/>
                        </a:spcBef>
                        <a:spcAft>
                          <a:spcPts val="0"/>
                        </a:spcAft>
                        <a:buNone/>
                      </a:pPr>
                      <a:r>
                        <a:rPr lang="hu-HU" sz="1500" b="1"/>
                        <a:t>ICOD: 2011-07-01</a:t>
                      </a:r>
                      <a:r>
                        <a:rPr lang="hu-HU" sz="1500" b="1" baseline="0"/>
                        <a:t> </a:t>
                      </a:r>
                      <a:r>
                        <a:rPr lang="hu-HU" sz="1500" b="1"/>
                        <a:t>DOI: 2011-05-12</a:t>
                      </a:r>
                      <a:endParaRPr lang="hu-HU" sz="15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en-US" sz="1500" b="1" dirty="0"/>
                        <a:t>DECL ON: 2061-01-01(+50 YEARS)</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57" name="Google Shape;257;p26"/>
          <p:cNvSpPr/>
          <p:nvPr/>
        </p:nvSpPr>
        <p:spPr>
          <a:xfrm>
            <a:off x="7941200" y="1907025"/>
            <a:ext cx="7179000" cy="4173600"/>
          </a:xfrm>
          <a:prstGeom prst="rect">
            <a:avLst/>
          </a:prstGeom>
          <a:solidFill>
            <a:srgbClr val="EEEEEE"/>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58" name="Google Shape;258;p26"/>
          <p:cNvGrpSpPr/>
          <p:nvPr/>
        </p:nvGrpSpPr>
        <p:grpSpPr>
          <a:xfrm>
            <a:off x="207725" y="2629564"/>
            <a:ext cx="519600" cy="1236436"/>
            <a:chOff x="4246325" y="4458364"/>
            <a:chExt cx="519600" cy="1236436"/>
          </a:xfrm>
        </p:grpSpPr>
        <p:cxnSp>
          <p:nvCxnSpPr>
            <p:cNvPr id="259" name="Google Shape;259;p26"/>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260" name="Google Shape;260;p26"/>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grpSp>
        <p:nvGrpSpPr>
          <p:cNvPr id="261" name="Google Shape;261;p26"/>
          <p:cNvGrpSpPr/>
          <p:nvPr/>
        </p:nvGrpSpPr>
        <p:grpSpPr>
          <a:xfrm>
            <a:off x="1522925" y="4158450"/>
            <a:ext cx="4103108" cy="2016000"/>
            <a:chOff x="3671523" y="6965375"/>
            <a:chExt cx="1459350" cy="2016000"/>
          </a:xfrm>
        </p:grpSpPr>
        <p:sp>
          <p:nvSpPr>
            <p:cNvPr id="262" name="Google Shape;262;p26"/>
            <p:cNvSpPr txBox="1"/>
            <p:nvPr/>
          </p:nvSpPr>
          <p:spPr>
            <a:xfrm>
              <a:off x="3671523" y="6965375"/>
              <a:ext cx="1166100" cy="6759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dirty="0">
                  <a:solidFill>
                    <a:schemeClr val="dk1"/>
                  </a:solidFill>
                </a:rPr>
                <a:t>TARGET OBJECTIVE</a:t>
              </a:r>
              <a:endParaRPr b="1">
                <a:solidFill>
                  <a:schemeClr val="dk1"/>
                </a:solidFill>
              </a:endParaRPr>
            </a:p>
            <a:p>
              <a:pPr marL="0" lvl="0" indent="0" algn="ctr" rtl="0">
                <a:spcBef>
                  <a:spcPts val="0"/>
                </a:spcBef>
                <a:spcAft>
                  <a:spcPts val="0"/>
                </a:spcAft>
                <a:buNone/>
              </a:pPr>
              <a:r>
                <a:rPr lang="fr" b="1" dirty="0">
                  <a:solidFill>
                    <a:schemeClr val="dk1"/>
                  </a:solidFill>
                </a:rPr>
                <a:t>DAMAGE/CHANGE ASSESSMENT</a:t>
              </a:r>
              <a:endParaRPr b="1">
                <a:solidFill>
                  <a:schemeClr val="dk1"/>
                </a:solidFill>
              </a:endParaRPr>
            </a:p>
            <a:p>
              <a:pPr marL="0" lvl="0" indent="0" algn="ctr" rtl="0">
                <a:spcBef>
                  <a:spcPts val="0"/>
                </a:spcBef>
                <a:spcAft>
                  <a:spcPts val="0"/>
                </a:spcAft>
                <a:buNone/>
              </a:pPr>
              <a:r>
                <a:rPr lang="fr" b="1">
                  <a:solidFill>
                    <a:schemeClr val="dk1"/>
                  </a:solidFill>
                </a:rPr>
                <a:t>DPI:[</a:t>
              </a:r>
              <a:r>
                <a:rPr lang="hu-HU" b="1">
                  <a:solidFill>
                    <a:schemeClr val="dk1"/>
                  </a:solidFill>
                </a:rPr>
                <a:t>SRNTGT088</a:t>
              </a:r>
              <a:r>
                <a:rPr lang="fr" b="1">
                  <a:solidFill>
                    <a:schemeClr val="dk1"/>
                  </a:solidFill>
                </a:rPr>
                <a:t>]</a:t>
              </a:r>
              <a:endParaRPr b="1">
                <a:solidFill>
                  <a:schemeClr val="dk1"/>
                </a:solidFill>
              </a:endParaRPr>
            </a:p>
          </p:txBody>
        </p:sp>
        <p:cxnSp>
          <p:nvCxnSpPr>
            <p:cNvPr id="263" name="Google Shape;263;p26"/>
            <p:cNvCxnSpPr>
              <a:stCxn id="262" idx="2"/>
            </p:cNvCxnSpPr>
            <p:nvPr/>
          </p:nvCxnSpPr>
          <p:spPr>
            <a:xfrm>
              <a:off x="4254573" y="7641275"/>
              <a:ext cx="876300" cy="1340100"/>
            </a:xfrm>
            <a:prstGeom prst="straightConnector1">
              <a:avLst/>
            </a:prstGeom>
            <a:noFill/>
            <a:ln w="19050" cap="flat" cmpd="sng">
              <a:solidFill>
                <a:srgbClr val="000000"/>
              </a:solidFill>
              <a:prstDash val="solid"/>
              <a:round/>
              <a:headEnd type="none" w="med" len="med"/>
              <a:tailEnd type="none" w="med" len="med"/>
            </a:ln>
          </p:spPr>
        </p:cxnSp>
      </p:grpSp>
      <p:sp>
        <p:nvSpPr>
          <p:cNvPr id="264" name="Google Shape;264;p26"/>
          <p:cNvSpPr txBox="1"/>
          <p:nvPr/>
        </p:nvSpPr>
        <p:spPr>
          <a:xfrm>
            <a:off x="3186600" y="10083157"/>
            <a:ext cx="119334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fr" sz="1600" b="1"/>
              <a:t>BDA REMARK: [CLASSIFICATION] [DISSEMINATION]</a:t>
            </a:r>
            <a:r>
              <a:rPr lang="fr" b="1"/>
              <a:t> </a:t>
            </a:r>
            <a:r>
              <a:rPr lang="fr"/>
              <a:t>Assessment: Physical Damage/change, Collateral Damage, Functional Damage/change, Munitions Effectiveness, Reattack Recommendation, Additional/Collateral Effects</a:t>
            </a:r>
            <a:endParaRPr/>
          </a:p>
        </p:txBody>
      </p:sp>
      <p:sp>
        <p:nvSpPr>
          <p:cNvPr id="266" name="Google Shape;266;p26"/>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algn="ctr"/>
            <a:r>
              <a:rPr lang="nb-NO" b="1" dirty="0">
                <a:solidFill>
                  <a:srgbClr val="FF0000"/>
                </a:solidFill>
              </a:rPr>
              <a:t>OPAC CLASSIFIED</a:t>
            </a:r>
          </a:p>
        </p:txBody>
      </p:sp>
      <p:sp>
        <p:nvSpPr>
          <p:cNvPr id="267" name="Google Shape;267;p26"/>
          <p:cNvSpPr txBox="1"/>
          <p:nvPr/>
        </p:nvSpPr>
        <p:spPr>
          <a:xfrm>
            <a:off x="11309400" y="1998525"/>
            <a:ext cx="16200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600" b="1">
                <a:solidFill>
                  <a:schemeClr val="dk1"/>
                </a:solidFill>
              </a:rPr>
              <a:t>PRE-STRIKE</a:t>
            </a:r>
            <a:endParaRPr sz="1600" b="1">
              <a:solidFill>
                <a:schemeClr val="dk1"/>
              </a:solidFill>
            </a:endParaRPr>
          </a:p>
        </p:txBody>
      </p:sp>
      <p:sp>
        <p:nvSpPr>
          <p:cNvPr id="268" name="Google Shape;268;p26"/>
          <p:cNvSpPr txBox="1"/>
          <p:nvPr/>
        </p:nvSpPr>
        <p:spPr>
          <a:xfrm>
            <a:off x="5392275" y="1998525"/>
            <a:ext cx="16200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1600" b="1">
                <a:solidFill>
                  <a:schemeClr val="dk1"/>
                </a:solidFill>
              </a:rPr>
              <a:t>POST-STRIKE</a:t>
            </a:r>
            <a:endParaRPr sz="1600" b="1">
              <a:solidFill>
                <a:schemeClr val="dk1"/>
              </a:solidFill>
            </a:endParaRPr>
          </a:p>
        </p:txBody>
      </p:sp>
      <p:sp>
        <p:nvSpPr>
          <p:cNvPr id="17" name="Google Shape;213;p23"/>
          <p:cNvSpPr txBox="1"/>
          <p:nvPr/>
        </p:nvSpPr>
        <p:spPr>
          <a:xfrm>
            <a:off x="0" y="10087583"/>
            <a:ext cx="3186600" cy="613958"/>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dirty="0"/>
              <a:t>OPAC CLASSIFIED</a:t>
            </a:r>
          </a:p>
          <a:p>
            <a:pPr lvl="0" algn="ctr"/>
            <a:r>
              <a:rPr lang="en-US" b="1" dirty="0"/>
              <a:t>REL TO CJTF-23</a:t>
            </a:r>
          </a:p>
        </p:txBody>
      </p:sp>
      <p:pic>
        <p:nvPicPr>
          <p:cNvPr id="18" name="Picture 3"/>
          <p:cNvPicPr>
            <a:picLocks noChangeAspect="1" noChangeArrowheads="1"/>
          </p:cNvPicPr>
          <p:nvPr/>
        </p:nvPicPr>
        <p:blipFill>
          <a:blip r:embed="rId3" cstate="screen"/>
          <a:srcRect b="514"/>
          <a:stretch>
            <a:fillRect/>
          </a:stretch>
        </p:blipFill>
        <p:spPr bwMode="auto">
          <a:xfrm>
            <a:off x="9104243" y="0"/>
            <a:ext cx="2276553" cy="1888331"/>
          </a:xfrm>
          <a:prstGeom prst="rect">
            <a:avLst/>
          </a:prstGeom>
          <a:noFill/>
          <a:ln w="9525">
            <a:solidFill>
              <a:schemeClr val="tx1"/>
            </a:solidFill>
            <a:miter lim="800000"/>
            <a:headEnd/>
            <a:tailEnd/>
          </a:ln>
          <a:effectLst/>
        </p:spPr>
      </p:pic>
      <p:pic>
        <p:nvPicPr>
          <p:cNvPr id="10241" name="Picture 1" descr="D:\GIT PROJECTS\OPAT-background\Virtual Intelligence Service only logo.PNG"/>
          <p:cNvPicPr>
            <a:picLocks noChangeAspect="1" noChangeArrowheads="1"/>
          </p:cNvPicPr>
          <p:nvPr/>
        </p:nvPicPr>
        <p:blipFill>
          <a:blip r:embed="rId4"/>
          <a:srcRect/>
          <a:stretch>
            <a:fillRect/>
          </a:stretch>
        </p:blipFill>
        <p:spPr bwMode="auto">
          <a:xfrm>
            <a:off x="0" y="0"/>
            <a:ext cx="2225675" cy="1958975"/>
          </a:xfrm>
          <a:prstGeom prst="rect">
            <a:avLst/>
          </a:prstGeom>
          <a:noFill/>
        </p:spPr>
      </p:pic>
      <p:sp>
        <p:nvSpPr>
          <p:cNvPr id="20" name="Rektangel 19"/>
          <p:cNvSpPr/>
          <p:nvPr/>
        </p:nvSpPr>
        <p:spPr>
          <a:xfrm>
            <a:off x="15751370" y="564829"/>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Google Shape;65;p14"/>
          <p:cNvCxnSpPr/>
          <p:nvPr/>
        </p:nvCxnSpPr>
        <p:spPr>
          <a:xfrm rot="10800000">
            <a:off x="-991782" y="2471171"/>
            <a:ext cx="17400" cy="1080000"/>
          </a:xfrm>
          <a:prstGeom prst="straightConnector1">
            <a:avLst/>
          </a:prstGeom>
          <a:noFill/>
          <a:ln w="38100" cap="flat" cmpd="sng">
            <a:solidFill>
              <a:schemeClr val="bg1"/>
            </a:solidFill>
            <a:prstDash val="solid"/>
            <a:round/>
            <a:headEnd type="none" w="med" len="med"/>
            <a:tailEnd type="triangle" w="med" len="med"/>
          </a:ln>
        </p:spPr>
      </p:cxnSp>
      <p:sp>
        <p:nvSpPr>
          <p:cNvPr id="22" name="Google Shape;66;p14"/>
          <p:cNvSpPr txBox="1"/>
          <p:nvPr/>
        </p:nvSpPr>
        <p:spPr>
          <a:xfrm>
            <a:off x="-974382" y="3061107"/>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dirty="0">
                <a:solidFill>
                  <a:schemeClr val="bg1"/>
                </a:solidFill>
              </a:rPr>
              <a:t>N</a:t>
            </a:r>
            <a:endParaRPr sz="3000" b="1">
              <a:solidFill>
                <a:schemeClr val="bg1"/>
              </a:solidFill>
            </a:endParaRPr>
          </a:p>
        </p:txBody>
      </p:sp>
      <p:sp>
        <p:nvSpPr>
          <p:cNvPr id="2" name="Rektangel 11">
            <a:extLst>
              <a:ext uri="{FF2B5EF4-FFF2-40B4-BE49-F238E27FC236}">
                <a16:creationId xmlns:a16="http://schemas.microsoft.com/office/drawing/2014/main" id="{EEBA6409-A6E4-4C0A-DA60-D8B8ACD697CD}"/>
              </a:ext>
            </a:extLst>
          </p:cNvPr>
          <p:cNvSpPr/>
          <p:nvPr/>
        </p:nvSpPr>
        <p:spPr>
          <a:xfrm>
            <a:off x="10030742" y="679591"/>
            <a:ext cx="118753" cy="13062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dirty="0"/>
              <a:t>BAKCUP SLIDES AFTER THIS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220"/>
        <p:cNvGrpSpPr/>
        <p:nvPr/>
      </p:nvGrpSpPr>
      <p:grpSpPr>
        <a:xfrm>
          <a:off x="0" y="0"/>
          <a:ext cx="0" cy="0"/>
          <a:chOff x="0" y="0"/>
          <a:chExt cx="0" cy="0"/>
        </a:xfrm>
      </p:grpSpPr>
      <p:graphicFrame>
        <p:nvGraphicFramePr>
          <p:cNvPr id="221" name="Google Shape;221;p24"/>
          <p:cNvGraphicFramePr/>
          <p:nvPr/>
        </p:nvGraphicFramePr>
        <p:xfrm>
          <a:off x="0" y="0"/>
          <a:ext cx="15120000" cy="10755900"/>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28550">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COLLOCATED FACILITY GRAPHIC</a:t>
                      </a:r>
                      <a:r>
                        <a:rPr lang="fr" sz="2000" b="1">
                          <a:solidFill>
                            <a:schemeClr val="dk1"/>
                          </a:solidFill>
                        </a:rPr>
                        <a:t>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14600">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848850">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sp>
        <p:nvSpPr>
          <p:cNvPr id="222" name="Google Shape;222;p24"/>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sp>
        <p:nvSpPr>
          <p:cNvPr id="223" name="Google Shape;223;p24"/>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grpSp>
        <p:nvGrpSpPr>
          <p:cNvPr id="224" name="Google Shape;224;p24"/>
          <p:cNvGrpSpPr/>
          <p:nvPr/>
        </p:nvGrpSpPr>
        <p:grpSpPr>
          <a:xfrm>
            <a:off x="13999925" y="2400964"/>
            <a:ext cx="519600" cy="1236436"/>
            <a:chOff x="4246325" y="4458364"/>
            <a:chExt cx="519600" cy="1236436"/>
          </a:xfrm>
        </p:grpSpPr>
        <p:cxnSp>
          <p:nvCxnSpPr>
            <p:cNvPr id="225" name="Google Shape;225;p24"/>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226" name="Google Shape;226;p24"/>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sp>
        <p:nvSpPr>
          <p:cNvPr id="227" name="Google Shape;227;p24"/>
          <p:cNvSpPr/>
          <p:nvPr/>
        </p:nvSpPr>
        <p:spPr>
          <a:xfrm rot="6727683">
            <a:off x="6891639" y="6806410"/>
            <a:ext cx="768520" cy="955517"/>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hu-HU"/>
          </a:p>
        </p:txBody>
      </p:sp>
      <p:sp>
        <p:nvSpPr>
          <p:cNvPr id="228" name="Google Shape;228;p24"/>
          <p:cNvSpPr/>
          <p:nvPr/>
        </p:nvSpPr>
        <p:spPr>
          <a:xfrm>
            <a:off x="5824730" y="5599900"/>
            <a:ext cx="2249631" cy="2196996"/>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chemeClr val="accent6"/>
            </a:solidFill>
            <a:prstDash val="solid"/>
            <a:round/>
            <a:headEnd type="none" w="med" len="med"/>
            <a:tailEnd type="none" w="med" len="med"/>
          </a:ln>
        </p:spPr>
        <p:txBody>
          <a:bodyPr/>
          <a:lstStyle/>
          <a:p>
            <a:endParaRPr lang="hu-HU"/>
          </a:p>
        </p:txBody>
      </p:sp>
      <p:sp>
        <p:nvSpPr>
          <p:cNvPr id="229" name="Google Shape;229;p24"/>
          <p:cNvSpPr/>
          <p:nvPr/>
        </p:nvSpPr>
        <p:spPr>
          <a:xfrm rot="-8527323">
            <a:off x="5215054" y="5130113"/>
            <a:ext cx="768569" cy="955461"/>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hu-HU"/>
          </a:p>
        </p:txBody>
      </p:sp>
      <p:grpSp>
        <p:nvGrpSpPr>
          <p:cNvPr id="230" name="Google Shape;230;p24"/>
          <p:cNvGrpSpPr/>
          <p:nvPr/>
        </p:nvGrpSpPr>
        <p:grpSpPr>
          <a:xfrm>
            <a:off x="2875975" y="3530000"/>
            <a:ext cx="2533050" cy="1733100"/>
            <a:chOff x="4206025" y="5185225"/>
            <a:chExt cx="2533050" cy="1733100"/>
          </a:xfrm>
        </p:grpSpPr>
        <p:sp>
          <p:nvSpPr>
            <p:cNvPr id="231" name="Google Shape;231;p24"/>
            <p:cNvSpPr txBox="1"/>
            <p:nvPr/>
          </p:nvSpPr>
          <p:spPr>
            <a:xfrm>
              <a:off x="4206025" y="5185225"/>
              <a:ext cx="21267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FACILITY NAME</a:t>
              </a:r>
              <a:endParaRPr b="1">
                <a:solidFill>
                  <a:schemeClr val="dk1"/>
                </a:solidFill>
              </a:endParaRPr>
            </a:p>
            <a:p>
              <a:pPr marL="0" lvl="0" indent="0" algn="l" rtl="0">
                <a:spcBef>
                  <a:spcPts val="0"/>
                </a:spcBef>
                <a:spcAft>
                  <a:spcPts val="0"/>
                </a:spcAft>
                <a:buNone/>
              </a:pPr>
              <a:r>
                <a:rPr lang="fr" b="1">
                  <a:solidFill>
                    <a:schemeClr val="dk1"/>
                  </a:solidFill>
                </a:rPr>
                <a:t>XXXXXXX</a:t>
              </a:r>
              <a:endParaRPr b="1">
                <a:solidFill>
                  <a:schemeClr val="dk1"/>
                </a:solidFill>
              </a:endParaRPr>
            </a:p>
          </p:txBody>
        </p:sp>
        <p:cxnSp>
          <p:nvCxnSpPr>
            <p:cNvPr id="232" name="Google Shape;232;p24"/>
            <p:cNvCxnSpPr>
              <a:stCxn id="231" idx="2"/>
            </p:cNvCxnSpPr>
            <p:nvPr/>
          </p:nvCxnSpPr>
          <p:spPr>
            <a:xfrm>
              <a:off x="5269375" y="5687425"/>
              <a:ext cx="1469700" cy="1230900"/>
            </a:xfrm>
            <a:prstGeom prst="straightConnector1">
              <a:avLst/>
            </a:prstGeom>
            <a:noFill/>
            <a:ln w="19050" cap="flat" cmpd="sng">
              <a:solidFill>
                <a:srgbClr val="000000"/>
              </a:solidFill>
              <a:prstDash val="solid"/>
              <a:round/>
              <a:headEnd type="none" w="med" len="med"/>
              <a:tailEnd type="none" w="med" len="med"/>
            </a:ln>
          </p:spPr>
        </p:cxnSp>
      </p:grpSp>
      <p:grpSp>
        <p:nvGrpSpPr>
          <p:cNvPr id="233" name="Google Shape;233;p24"/>
          <p:cNvGrpSpPr/>
          <p:nvPr/>
        </p:nvGrpSpPr>
        <p:grpSpPr>
          <a:xfrm>
            <a:off x="2984625" y="7317825"/>
            <a:ext cx="3765900" cy="502200"/>
            <a:chOff x="4162275" y="4096250"/>
            <a:chExt cx="3765900" cy="502200"/>
          </a:xfrm>
        </p:grpSpPr>
        <p:sp>
          <p:nvSpPr>
            <p:cNvPr id="234" name="Google Shape;234;p24"/>
            <p:cNvSpPr txBox="1"/>
            <p:nvPr/>
          </p:nvSpPr>
          <p:spPr>
            <a:xfrm>
              <a:off x="4162275" y="4096250"/>
              <a:ext cx="21267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FACILITY NAME</a:t>
              </a:r>
              <a:endParaRPr b="1">
                <a:solidFill>
                  <a:schemeClr val="dk1"/>
                </a:solidFill>
              </a:endParaRPr>
            </a:p>
            <a:p>
              <a:pPr marL="0" lvl="0" indent="0" algn="l" rtl="0">
                <a:spcBef>
                  <a:spcPts val="0"/>
                </a:spcBef>
                <a:spcAft>
                  <a:spcPts val="0"/>
                </a:spcAft>
                <a:buNone/>
              </a:pPr>
              <a:r>
                <a:rPr lang="fr" b="1">
                  <a:solidFill>
                    <a:schemeClr val="dk1"/>
                  </a:solidFill>
                </a:rPr>
                <a:t>XXXXXXX</a:t>
              </a:r>
              <a:endParaRPr b="1">
                <a:solidFill>
                  <a:schemeClr val="dk1"/>
                </a:solidFill>
              </a:endParaRPr>
            </a:p>
          </p:txBody>
        </p:sp>
        <p:cxnSp>
          <p:nvCxnSpPr>
            <p:cNvPr id="235" name="Google Shape;235;p24"/>
            <p:cNvCxnSpPr>
              <a:stCxn id="234" idx="3"/>
            </p:cNvCxnSpPr>
            <p:nvPr/>
          </p:nvCxnSpPr>
          <p:spPr>
            <a:xfrm rot="10800000" flipH="1">
              <a:off x="6288975" y="4231250"/>
              <a:ext cx="1639200" cy="116100"/>
            </a:xfrm>
            <a:prstGeom prst="straightConnector1">
              <a:avLst/>
            </a:prstGeom>
            <a:noFill/>
            <a:ln w="19050" cap="flat" cmpd="sng">
              <a:solidFill>
                <a:srgbClr val="000000"/>
              </a:solidFill>
              <a:prstDash val="solid"/>
              <a:round/>
              <a:headEnd type="none" w="med" len="med"/>
              <a:tailEnd type="none" w="med" len="med"/>
            </a:ln>
          </p:spPr>
        </p:cxnSp>
      </p:grpSp>
      <p:sp>
        <p:nvSpPr>
          <p:cNvPr id="236" name="Google Shape;236;p24"/>
          <p:cNvSpPr txBox="1"/>
          <p:nvPr/>
        </p:nvSpPr>
        <p:spPr>
          <a:xfrm>
            <a:off x="1193340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457200" algn="l" rtl="0">
              <a:spcBef>
                <a:spcPts val="0"/>
              </a:spcBef>
              <a:spcAft>
                <a:spcPts val="0"/>
              </a:spcAft>
              <a:buNone/>
            </a:pPr>
            <a:r>
              <a:rPr lang="fr" b="1"/>
              <a:t>INSTALLATION OUTLINE</a:t>
            </a:r>
            <a:endParaRPr b="1"/>
          </a:p>
          <a:p>
            <a:pPr marL="0" lvl="0" indent="457200" algn="l" rtl="0">
              <a:spcBef>
                <a:spcPts val="0"/>
              </a:spcBef>
              <a:spcAft>
                <a:spcPts val="0"/>
              </a:spcAft>
              <a:buNone/>
            </a:pPr>
            <a:r>
              <a:rPr lang="fr" b="1"/>
              <a:t>FACILITY OUTLINE</a:t>
            </a:r>
            <a:endParaRPr b="1"/>
          </a:p>
        </p:txBody>
      </p:sp>
      <p:cxnSp>
        <p:nvCxnSpPr>
          <p:cNvPr id="237" name="Google Shape;237;p24"/>
          <p:cNvCxnSpPr/>
          <p:nvPr/>
        </p:nvCxnSpPr>
        <p:spPr>
          <a:xfrm>
            <a:off x="12038150" y="10346023"/>
            <a:ext cx="360000" cy="3600"/>
          </a:xfrm>
          <a:prstGeom prst="straightConnector1">
            <a:avLst/>
          </a:prstGeom>
          <a:noFill/>
          <a:ln w="28575" cap="flat" cmpd="sng">
            <a:solidFill>
              <a:schemeClr val="accent6"/>
            </a:solidFill>
            <a:prstDash val="solid"/>
            <a:round/>
            <a:headEnd type="none" w="med" len="med"/>
            <a:tailEnd type="none" w="med" len="med"/>
          </a:ln>
        </p:spPr>
      </p:cxnSp>
      <p:cxnSp>
        <p:nvCxnSpPr>
          <p:cNvPr id="238" name="Google Shape;238;p24"/>
          <p:cNvCxnSpPr/>
          <p:nvPr/>
        </p:nvCxnSpPr>
        <p:spPr>
          <a:xfrm>
            <a:off x="12038150" y="10554896"/>
            <a:ext cx="360000" cy="3600"/>
          </a:xfrm>
          <a:prstGeom prst="straightConnector1">
            <a:avLst/>
          </a:prstGeom>
          <a:noFill/>
          <a:ln w="28575" cap="flat" cmpd="sng">
            <a:solidFill>
              <a:srgbClr val="9E9E9E"/>
            </a:solidFill>
            <a:prstDash val="solid"/>
            <a:round/>
            <a:headEnd type="none" w="med" len="med"/>
            <a:tailEnd type="none" w="med" len="med"/>
          </a:ln>
        </p:spPr>
      </p:cxnSp>
      <p:pic>
        <p:nvPicPr>
          <p:cNvPr id="239" name="Google Shape;239;p24">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243"/>
        <p:cNvGrpSpPr/>
        <p:nvPr/>
      </p:nvGrpSpPr>
      <p:grpSpPr>
        <a:xfrm>
          <a:off x="0" y="0"/>
          <a:ext cx="0" cy="0"/>
          <a:chOff x="0" y="0"/>
          <a:chExt cx="0" cy="0"/>
        </a:xfrm>
      </p:grpSpPr>
      <p:graphicFrame>
        <p:nvGraphicFramePr>
          <p:cNvPr id="244" name="Google Shape;244;p25"/>
          <p:cNvGraphicFramePr/>
          <p:nvPr/>
        </p:nvGraphicFramePr>
        <p:xfrm>
          <a:off x="0" y="0"/>
          <a:ext cx="15120000" cy="10755900"/>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28550">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[INSTALLATION NAME, COUNTRY CODE]</a:t>
                      </a:r>
                      <a:endParaRPr sz="2000" b="1"/>
                    </a:p>
                    <a:p>
                      <a:pPr marL="0" lvl="0" indent="0" algn="l" rtl="0">
                        <a:spcBef>
                          <a:spcPts val="0"/>
                        </a:spcBef>
                        <a:spcAft>
                          <a:spcPts val="0"/>
                        </a:spcAft>
                        <a:buNone/>
                      </a:pPr>
                      <a:r>
                        <a:rPr lang="fr" sz="2000" b="1"/>
                        <a:t>INSTALLATION OUTLINE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14600">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848850">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245" name="Google Shape;245;p25"/>
          <p:cNvGrpSpPr/>
          <p:nvPr/>
        </p:nvGrpSpPr>
        <p:grpSpPr>
          <a:xfrm>
            <a:off x="13999925" y="2400964"/>
            <a:ext cx="519600" cy="1236436"/>
            <a:chOff x="4246325" y="4458364"/>
            <a:chExt cx="519600" cy="1236436"/>
          </a:xfrm>
        </p:grpSpPr>
        <p:cxnSp>
          <p:nvCxnSpPr>
            <p:cNvPr id="246" name="Google Shape;246;p25"/>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247" name="Google Shape;247;p25"/>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sp>
        <p:nvSpPr>
          <p:cNvPr id="248" name="Google Shape;248;p25"/>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chemeClr val="accent6"/>
            </a:solidFill>
            <a:prstDash val="solid"/>
            <a:round/>
            <a:headEnd type="none" w="med" len="med"/>
            <a:tailEnd type="none" w="med" len="med"/>
          </a:ln>
        </p:spPr>
        <p:txBody>
          <a:bodyPr/>
          <a:lstStyle/>
          <a:p>
            <a:endParaRPr lang="hu-HU"/>
          </a:p>
        </p:txBody>
      </p:sp>
      <p:sp>
        <p:nvSpPr>
          <p:cNvPr id="249" name="Google Shape;249;p25"/>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250" name="Google Shape;250;p25"/>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251" name="Google Shape;251;p25">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graphicFrame>
        <p:nvGraphicFramePr>
          <p:cNvPr id="102" name="Google Shape;102;p17"/>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03" name="Google Shape;103;p17"/>
          <p:cNvGrpSpPr/>
          <p:nvPr/>
        </p:nvGrpSpPr>
        <p:grpSpPr>
          <a:xfrm>
            <a:off x="5433300" y="3550225"/>
            <a:ext cx="3186600" cy="2358900"/>
            <a:chOff x="3452100" y="4159825"/>
            <a:chExt cx="3186600" cy="2358900"/>
          </a:xfrm>
        </p:grpSpPr>
        <p:sp>
          <p:nvSpPr>
            <p:cNvPr id="104" name="Google Shape;104;p17"/>
            <p:cNvSpPr txBox="1"/>
            <p:nvPr/>
          </p:nvSpPr>
          <p:spPr>
            <a:xfrm>
              <a:off x="3452100" y="4159825"/>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CE1</a:t>
              </a:r>
              <a:endParaRPr b="1">
                <a:solidFill>
                  <a:schemeClr val="dk1"/>
                </a:solidFill>
              </a:endParaRPr>
            </a:p>
            <a:p>
              <a:pPr marL="0" lvl="0" indent="0" algn="l" rtl="0">
                <a:spcBef>
                  <a:spcPts val="0"/>
                </a:spcBef>
                <a:spcAft>
                  <a:spcPts val="0"/>
                </a:spcAft>
                <a:buNone/>
              </a:pPr>
              <a:r>
                <a:rPr lang="fr" b="1">
                  <a:solidFill>
                    <a:schemeClr val="dk1"/>
                  </a:solidFill>
                </a:rPr>
                <a:t>SUPPORT BLDG 01</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05" name="Google Shape;105;p17"/>
            <p:cNvCxnSpPr>
              <a:stCxn id="104" idx="2"/>
            </p:cNvCxnSpPr>
            <p:nvPr/>
          </p:nvCxnSpPr>
          <p:spPr>
            <a:xfrm>
              <a:off x="5045400" y="5185225"/>
              <a:ext cx="1002000" cy="1333500"/>
            </a:xfrm>
            <a:prstGeom prst="straightConnector1">
              <a:avLst/>
            </a:prstGeom>
            <a:noFill/>
            <a:ln w="19050" cap="flat" cmpd="sng">
              <a:solidFill>
                <a:srgbClr val="000000"/>
              </a:solidFill>
              <a:prstDash val="solid"/>
              <a:round/>
              <a:headEnd type="none" w="med" len="med"/>
              <a:tailEnd type="none" w="med" len="med"/>
            </a:ln>
          </p:spPr>
        </p:cxnSp>
      </p:grpSp>
      <p:grpSp>
        <p:nvGrpSpPr>
          <p:cNvPr id="106" name="Google Shape;106;p17"/>
          <p:cNvGrpSpPr/>
          <p:nvPr/>
        </p:nvGrpSpPr>
        <p:grpSpPr>
          <a:xfrm>
            <a:off x="13999925" y="2400964"/>
            <a:ext cx="519600" cy="1236436"/>
            <a:chOff x="4246325" y="4458364"/>
            <a:chExt cx="519600" cy="1236436"/>
          </a:xfrm>
        </p:grpSpPr>
        <p:cxnSp>
          <p:nvCxnSpPr>
            <p:cNvPr id="107" name="Google Shape;107;p17"/>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108" name="Google Shape;108;p17"/>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grpSp>
        <p:nvGrpSpPr>
          <p:cNvPr id="109" name="Google Shape;109;p17"/>
          <p:cNvGrpSpPr/>
          <p:nvPr/>
        </p:nvGrpSpPr>
        <p:grpSpPr>
          <a:xfrm>
            <a:off x="1959275" y="7481450"/>
            <a:ext cx="4573200" cy="1025400"/>
            <a:chOff x="1959275" y="7481450"/>
            <a:chExt cx="4573200" cy="1025400"/>
          </a:xfrm>
        </p:grpSpPr>
        <p:sp>
          <p:nvSpPr>
            <p:cNvPr id="110" name="Google Shape;110;p17"/>
            <p:cNvSpPr txBox="1"/>
            <p:nvPr/>
          </p:nvSpPr>
          <p:spPr>
            <a:xfrm>
              <a:off x="1959275" y="7481450"/>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CE2</a:t>
              </a:r>
              <a:endParaRPr b="1">
                <a:solidFill>
                  <a:schemeClr val="dk1"/>
                </a:solidFill>
              </a:endParaRPr>
            </a:p>
            <a:p>
              <a:pPr marL="0" lvl="0" indent="0" algn="l" rtl="0">
                <a:spcBef>
                  <a:spcPts val="0"/>
                </a:spcBef>
                <a:spcAft>
                  <a:spcPts val="0"/>
                </a:spcAft>
                <a:buNone/>
              </a:pPr>
              <a:r>
                <a:rPr lang="fr" b="1">
                  <a:solidFill>
                    <a:schemeClr val="dk1"/>
                  </a:solidFill>
                </a:rPr>
                <a:t>SUPPORT BLDG 02</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11" name="Google Shape;111;p17"/>
            <p:cNvCxnSpPr>
              <a:stCxn id="110" idx="3"/>
            </p:cNvCxnSpPr>
            <p:nvPr/>
          </p:nvCxnSpPr>
          <p:spPr>
            <a:xfrm rot="10800000" flipH="1">
              <a:off x="5145875" y="7713650"/>
              <a:ext cx="1386600" cy="280500"/>
            </a:xfrm>
            <a:prstGeom prst="straightConnector1">
              <a:avLst/>
            </a:prstGeom>
            <a:noFill/>
            <a:ln w="19050" cap="flat" cmpd="sng">
              <a:solidFill>
                <a:srgbClr val="000000"/>
              </a:solidFill>
              <a:prstDash val="solid"/>
              <a:round/>
              <a:headEnd type="none" w="med" len="med"/>
              <a:tailEnd type="none" w="med" len="med"/>
            </a:ln>
          </p:spPr>
        </p:cxnSp>
      </p:grpSp>
      <p:sp>
        <p:nvSpPr>
          <p:cNvPr id="112" name="Google Shape;112;p17"/>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hu-HU"/>
          </a:p>
        </p:txBody>
      </p:sp>
      <p:sp>
        <p:nvSpPr>
          <p:cNvPr id="113" name="Google Shape;113;p17"/>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14" name="Google Shape;114;p17"/>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15" name="Google Shape;115;p1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19"/>
        <p:cNvGrpSpPr/>
        <p:nvPr/>
      </p:nvGrpSpPr>
      <p:grpSpPr>
        <a:xfrm>
          <a:off x="0" y="0"/>
          <a:ext cx="0" cy="0"/>
          <a:chOff x="0" y="0"/>
          <a:chExt cx="0" cy="0"/>
        </a:xfrm>
      </p:grpSpPr>
      <p:graphicFrame>
        <p:nvGraphicFramePr>
          <p:cNvPr id="120" name="Google Shape;120;p18"/>
          <p:cNvGraphicFramePr/>
          <p:nvPr/>
        </p:nvGraphicFramePr>
        <p:xfrm>
          <a:off x="0" y="0"/>
          <a:ext cx="15120000" cy="10728408"/>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1060655">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[X]</a:t>
                      </a:r>
                      <a:endParaRPr sz="2000" b="1"/>
                    </a:p>
                    <a:p>
                      <a:pPr marL="0" lvl="0" indent="0" algn="l" rtl="0">
                        <a:spcBef>
                          <a:spcPts val="0"/>
                        </a:spcBef>
                        <a:spcAft>
                          <a:spcPts val="0"/>
                        </a:spcAft>
                        <a:buNone/>
                      </a:pPr>
                      <a:r>
                        <a:rPr lang="fr" sz="2000" b="1"/>
                        <a:t>SPLIT REFERENCE 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077427">
                <a:tc vMerge="1">
                  <a:txBody>
                    <a:bodyPr/>
                    <a:lstStyle/>
                    <a:p>
                      <a:endParaRPr lang="nb-NO"/>
                    </a:p>
                  </a:txBody>
                  <a:tcPr/>
                </a:tc>
                <a:tc>
                  <a:txBody>
                    <a:bodyPr/>
                    <a:lstStyle/>
                    <a:p>
                      <a:pPr marL="0" lvl="0" indent="0" algn="l" rtl="0">
                        <a:spcBef>
                          <a:spcPts val="0"/>
                        </a:spcBef>
                        <a:spcAft>
                          <a:spcPts val="0"/>
                        </a:spcAft>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solidFill>
                          <a:schemeClr val="dk1"/>
                        </a:solidFill>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553731">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21" name="Google Shape;121;p18"/>
          <p:cNvGrpSpPr/>
          <p:nvPr/>
        </p:nvGrpSpPr>
        <p:grpSpPr>
          <a:xfrm>
            <a:off x="13999925" y="2400964"/>
            <a:ext cx="519600" cy="1236436"/>
            <a:chOff x="4246325" y="4458364"/>
            <a:chExt cx="519600" cy="1236436"/>
          </a:xfrm>
        </p:grpSpPr>
        <p:cxnSp>
          <p:nvCxnSpPr>
            <p:cNvPr id="122" name="Google Shape;122;p18"/>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123" name="Google Shape;123;p18"/>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grpSp>
        <p:nvGrpSpPr>
          <p:cNvPr id="124" name="Google Shape;124;p18"/>
          <p:cNvGrpSpPr/>
          <p:nvPr/>
        </p:nvGrpSpPr>
        <p:grpSpPr>
          <a:xfrm>
            <a:off x="4979550" y="4412225"/>
            <a:ext cx="3925350" cy="1236300"/>
            <a:chOff x="4979550" y="4412225"/>
            <a:chExt cx="3925350" cy="1236300"/>
          </a:xfrm>
        </p:grpSpPr>
        <p:cxnSp>
          <p:nvCxnSpPr>
            <p:cNvPr id="125" name="Google Shape;125;p18"/>
            <p:cNvCxnSpPr>
              <a:stCxn id="126" idx="3"/>
              <a:endCxn id="127" idx="1"/>
            </p:cNvCxnSpPr>
            <p:nvPr/>
          </p:nvCxnSpPr>
          <p:spPr>
            <a:xfrm>
              <a:off x="6354750" y="5030375"/>
              <a:ext cx="541500" cy="0"/>
            </a:xfrm>
            <a:prstGeom prst="straightConnector1">
              <a:avLst/>
            </a:prstGeom>
            <a:noFill/>
            <a:ln w="19050" cap="flat" cmpd="sng">
              <a:solidFill>
                <a:srgbClr val="000000"/>
              </a:solidFill>
              <a:prstDash val="solid"/>
              <a:round/>
              <a:headEnd type="none" w="med" len="med"/>
              <a:tailEnd type="none" w="med" len="med"/>
            </a:ln>
          </p:spPr>
        </p:cxnSp>
        <p:sp>
          <p:nvSpPr>
            <p:cNvPr id="126" name="Google Shape;126;p18"/>
            <p:cNvSpPr txBox="1"/>
            <p:nvPr/>
          </p:nvSpPr>
          <p:spPr>
            <a:xfrm>
              <a:off x="4979550" y="4820225"/>
              <a:ext cx="1375200" cy="4203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SPLIT 1 OF 2</a:t>
              </a:r>
              <a:endParaRPr b="1">
                <a:solidFill>
                  <a:schemeClr val="dk1"/>
                </a:solidFill>
              </a:endParaRPr>
            </a:p>
          </p:txBody>
        </p:sp>
        <p:sp>
          <p:nvSpPr>
            <p:cNvPr id="127" name="Google Shape;127;p18"/>
            <p:cNvSpPr/>
            <p:nvPr/>
          </p:nvSpPr>
          <p:spPr>
            <a:xfrm>
              <a:off x="6896100" y="4412225"/>
              <a:ext cx="2008800" cy="123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28" name="Google Shape;128;p18"/>
          <p:cNvGrpSpPr/>
          <p:nvPr/>
        </p:nvGrpSpPr>
        <p:grpSpPr>
          <a:xfrm>
            <a:off x="3071075" y="6504250"/>
            <a:ext cx="3925350" cy="1236300"/>
            <a:chOff x="4979550" y="4412225"/>
            <a:chExt cx="3925350" cy="1236300"/>
          </a:xfrm>
        </p:grpSpPr>
        <p:cxnSp>
          <p:nvCxnSpPr>
            <p:cNvPr id="129" name="Google Shape;129;p18"/>
            <p:cNvCxnSpPr>
              <a:stCxn id="130" idx="3"/>
              <a:endCxn id="131" idx="1"/>
            </p:cNvCxnSpPr>
            <p:nvPr/>
          </p:nvCxnSpPr>
          <p:spPr>
            <a:xfrm>
              <a:off x="6354750" y="5030375"/>
              <a:ext cx="541500" cy="0"/>
            </a:xfrm>
            <a:prstGeom prst="straightConnector1">
              <a:avLst/>
            </a:prstGeom>
            <a:noFill/>
            <a:ln w="19050" cap="flat" cmpd="sng">
              <a:solidFill>
                <a:srgbClr val="000000"/>
              </a:solidFill>
              <a:prstDash val="solid"/>
              <a:round/>
              <a:headEnd type="none" w="med" len="med"/>
              <a:tailEnd type="none" w="med" len="med"/>
            </a:ln>
          </p:spPr>
        </p:cxnSp>
        <p:sp>
          <p:nvSpPr>
            <p:cNvPr id="130" name="Google Shape;130;p18"/>
            <p:cNvSpPr txBox="1"/>
            <p:nvPr/>
          </p:nvSpPr>
          <p:spPr>
            <a:xfrm>
              <a:off x="4979550" y="4820225"/>
              <a:ext cx="1375200" cy="4203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chemeClr val="dk1"/>
                  </a:solidFill>
                </a:rPr>
                <a:t>SPLIT 2 OF 2</a:t>
              </a:r>
              <a:endParaRPr b="1">
                <a:solidFill>
                  <a:schemeClr val="dk1"/>
                </a:solidFill>
              </a:endParaRPr>
            </a:p>
          </p:txBody>
        </p:sp>
        <p:sp>
          <p:nvSpPr>
            <p:cNvPr id="131" name="Google Shape;131;p18"/>
            <p:cNvSpPr/>
            <p:nvPr/>
          </p:nvSpPr>
          <p:spPr>
            <a:xfrm>
              <a:off x="6896100" y="4412225"/>
              <a:ext cx="2008800" cy="123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2" name="Google Shape;132;p18"/>
          <p:cNvSpPr/>
          <p:nvPr/>
        </p:nvSpPr>
        <p:spPr>
          <a:xfrm>
            <a:off x="5291313" y="5081150"/>
            <a:ext cx="4537375" cy="3671450"/>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hu-HU"/>
          </a:p>
        </p:txBody>
      </p:sp>
      <p:sp>
        <p:nvSpPr>
          <p:cNvPr id="133" name="Google Shape;133;p18"/>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34" name="Google Shape;134;p18"/>
          <p:cNvSpPr txBox="1"/>
          <p:nvPr/>
        </p:nvSpPr>
        <p:spPr>
          <a:xfrm>
            <a:off x="99300" y="23033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35" name="Google Shape;135;p18">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39"/>
        <p:cNvGrpSpPr/>
        <p:nvPr/>
      </p:nvGrpSpPr>
      <p:grpSpPr>
        <a:xfrm>
          <a:off x="0" y="0"/>
          <a:ext cx="0" cy="0"/>
          <a:chOff x="0" y="0"/>
          <a:chExt cx="0" cy="0"/>
        </a:xfrm>
      </p:grpSpPr>
      <p:graphicFrame>
        <p:nvGraphicFramePr>
          <p:cNvPr id="140" name="Google Shape;140;p19"/>
          <p:cNvGraphicFramePr/>
          <p:nvPr/>
        </p:nvGraphicFramePr>
        <p:xfrm>
          <a:off x="0" y="0"/>
          <a:ext cx="15120000" cy="10696535"/>
        </p:xfrm>
        <a:graphic>
          <a:graphicData uri="http://schemas.openxmlformats.org/drawingml/2006/table">
            <a:tbl>
              <a:tblPr>
                <a:noFill/>
                <a:tableStyleId>{AE7EAA58-4EDA-4114-B047-75ABB572CC32}</a:tableStyleId>
              </a:tblPr>
              <a:tblGrid>
                <a:gridCol w="2459475">
                  <a:extLst>
                    <a:ext uri="{9D8B030D-6E8A-4147-A177-3AD203B41FA5}">
                      <a16:colId xmlns:a16="http://schemas.microsoft.com/office/drawing/2014/main" val="20000"/>
                    </a:ext>
                  </a:extLst>
                </a:gridCol>
                <a:gridCol w="6659175">
                  <a:extLst>
                    <a:ext uri="{9D8B030D-6E8A-4147-A177-3AD203B41FA5}">
                      <a16:colId xmlns:a16="http://schemas.microsoft.com/office/drawing/2014/main" val="20001"/>
                    </a:ext>
                  </a:extLst>
                </a:gridCol>
                <a:gridCol w="2243000">
                  <a:extLst>
                    <a:ext uri="{9D8B030D-6E8A-4147-A177-3AD203B41FA5}">
                      <a16:colId xmlns:a16="http://schemas.microsoft.com/office/drawing/2014/main" val="20002"/>
                    </a:ext>
                  </a:extLst>
                </a:gridCol>
                <a:gridCol w="3758350">
                  <a:extLst>
                    <a:ext uri="{9D8B030D-6E8A-4147-A177-3AD203B41FA5}">
                      <a16:colId xmlns:a16="http://schemas.microsoft.com/office/drawing/2014/main" val="20003"/>
                    </a:ext>
                  </a:extLst>
                </a:gridCol>
              </a:tblGrid>
              <a:tr h="787728">
                <a:tc rowSpan="2">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fr" sz="2000" b="1"/>
                        <a:t>[FACILITY NAME, COUNTRY CODE]</a:t>
                      </a:r>
                      <a:endParaRPr sz="2000" b="1"/>
                    </a:p>
                    <a:p>
                      <a:pPr marL="0" lvl="0" indent="0" algn="l" rtl="0">
                        <a:spcBef>
                          <a:spcPts val="0"/>
                        </a:spcBef>
                        <a:spcAft>
                          <a:spcPts val="0"/>
                        </a:spcAft>
                        <a:buNone/>
                      </a:pPr>
                      <a:r>
                        <a:rPr lang="fr" sz="2000" b="1"/>
                        <a:t>CRITICAL ELEMENT GRAPHIC SPLIT [X] OF [X]</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rowSpan="2">
                  <a:txBody>
                    <a:bodyPr/>
                    <a:lstStyle/>
                    <a:p>
                      <a:pPr marL="0" lvl="0" indent="0" algn="ctr" rtl="0">
                        <a:spcBef>
                          <a:spcPts val="0"/>
                        </a:spcBef>
                        <a:spcAft>
                          <a:spcPts val="0"/>
                        </a:spcAft>
                        <a:buNone/>
                      </a:pPr>
                      <a:r>
                        <a:rPr lang="fr" sz="2000" b="1"/>
                        <a:t>MAP</a:t>
                      </a:r>
                      <a:endParaRPr sz="2000" b="1"/>
                    </a:p>
                    <a:p>
                      <a:pPr marL="0" lvl="0" indent="0" algn="ctr" rtl="0">
                        <a:spcBef>
                          <a:spcPts val="0"/>
                        </a:spcBef>
                        <a:spcAft>
                          <a:spcPts val="0"/>
                        </a:spcAft>
                        <a:buNone/>
                      </a:pPr>
                      <a:r>
                        <a:rPr lang="fr" sz="2000" b="1"/>
                        <a:t>OVERVIEW</a:t>
                      </a: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a:txBody>
                    <a:bodyPr/>
                    <a:lstStyle/>
                    <a:p>
                      <a:pPr marL="0" lvl="0" indent="0" algn="ctr" rtl="0">
                        <a:spcBef>
                          <a:spcPts val="0"/>
                        </a:spcBef>
                        <a:spcAft>
                          <a:spcPts val="0"/>
                        </a:spcAft>
                        <a:buNone/>
                      </a:pPr>
                      <a:r>
                        <a:rPr lang="fr" sz="1900" b="1"/>
                        <a:t>[CLASSIFICATION]</a:t>
                      </a:r>
                      <a:endParaRPr sz="1900" b="1"/>
                    </a:p>
                    <a:p>
                      <a:pPr marL="0" lvl="0" indent="0" algn="ctr" rtl="0">
                        <a:spcBef>
                          <a:spcPts val="0"/>
                        </a:spcBef>
                        <a:spcAft>
                          <a:spcPts val="0"/>
                        </a:spcAft>
                        <a:buNone/>
                      </a:pPr>
                      <a:r>
                        <a:rPr lang="fr" sz="1900" b="1"/>
                        <a:t>[DISSEMINATION CONTROLS]</a:t>
                      </a:r>
                      <a:endParaRPr sz="19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1107959">
                <a:tc vMerge="1">
                  <a:txBody>
                    <a:bodyPr/>
                    <a:lstStyle/>
                    <a:p>
                      <a:endParaRPr lang="nb-NO"/>
                    </a:p>
                  </a:txBody>
                  <a:tcPr/>
                </a:tc>
                <a:tc>
                  <a:txBody>
                    <a:bodyPr/>
                    <a:lstStyle/>
                    <a:p>
                      <a:pPr marL="0" lvl="0" indent="0" algn="l" rtl="0">
                        <a:spcBef>
                          <a:spcPts val="0"/>
                        </a:spcBef>
                        <a:spcAft>
                          <a:spcPts val="0"/>
                        </a:spcAft>
                        <a:buClr>
                          <a:schemeClr val="dk1"/>
                        </a:buClr>
                        <a:buSzPts val="1100"/>
                        <a:buFont typeface="Arial"/>
                        <a:buNone/>
                      </a:pPr>
                      <a:r>
                        <a:rPr lang="fr" sz="1500" b="1">
                          <a:solidFill>
                            <a:schemeClr val="dk1"/>
                          </a:solidFill>
                        </a:rPr>
                        <a:t>BE: [XXXXXXX]  CATCODE: XX</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MIDB GEO: [DDMM.MMM (N/S)] [DDDMM.MMM(E/W)]</a:t>
                      </a:r>
                      <a:endParaRPr sz="1500" b="1">
                        <a:solidFill>
                          <a:schemeClr val="dk1"/>
                        </a:solidFill>
                      </a:endParaRPr>
                    </a:p>
                    <a:p>
                      <a:pPr marL="0" lvl="0" indent="0" algn="l" rtl="0">
                        <a:spcBef>
                          <a:spcPts val="0"/>
                        </a:spcBef>
                        <a:spcAft>
                          <a:spcPts val="0"/>
                        </a:spcAft>
                        <a:buClr>
                          <a:schemeClr val="dk1"/>
                        </a:buClr>
                        <a:buSzPts val="1100"/>
                        <a:buFont typeface="Arial"/>
                        <a:buNone/>
                      </a:pPr>
                      <a:r>
                        <a:rPr lang="fr" sz="1500" b="1">
                          <a:solidFill>
                            <a:schemeClr val="dk1"/>
                          </a:solidFill>
                        </a:rPr>
                        <a:t>ICOD: [DDMMMYYYY] DOI:[DDMMMYYYY]</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tc vMerge="1">
                  <a:txBody>
                    <a:bodyPr/>
                    <a:lstStyle/>
                    <a:p>
                      <a:endParaRPr lang="nb-NO"/>
                    </a:p>
                  </a:txBody>
                  <a:tcPr/>
                </a:tc>
                <a:tc>
                  <a:txBody>
                    <a:bodyPr/>
                    <a:lstStyle/>
                    <a:p>
                      <a:pPr marL="0" lvl="0" indent="0" algn="ctr" rtl="0">
                        <a:spcBef>
                          <a:spcPts val="0"/>
                        </a:spcBef>
                        <a:spcAft>
                          <a:spcPts val="0"/>
                        </a:spcAft>
                        <a:buNone/>
                      </a:pPr>
                      <a:r>
                        <a:rPr lang="fr" sz="1500" b="1"/>
                        <a:t>DECL ON: [YYYYMMDD] (+50 YEARS)</a:t>
                      </a:r>
                      <a:endParaRPr sz="15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8796126">
                <a:tc gridSpan="4">
                  <a:txBody>
                    <a:bodyPr/>
                    <a:lstStyle/>
                    <a:p>
                      <a:pPr marL="0" lvl="0" indent="0" algn="ctr" rtl="0">
                        <a:spcBef>
                          <a:spcPts val="0"/>
                        </a:spcBef>
                        <a:spcAft>
                          <a:spcPts val="0"/>
                        </a:spcAft>
                        <a:buNone/>
                      </a:pPr>
                      <a:endParaRPr sz="2000" b="1"/>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hMerge="1">
                  <a:txBody>
                    <a:bodyPr/>
                    <a:lstStyle/>
                    <a:p>
                      <a:endParaRPr lang="nb-NO"/>
                    </a:p>
                  </a:txBody>
                  <a:tcPr/>
                </a:tc>
                <a:tc hMerge="1">
                  <a:txBody>
                    <a:bodyPr/>
                    <a:lstStyle/>
                    <a:p>
                      <a:endParaRPr lang="nb-NO"/>
                    </a:p>
                  </a:txBody>
                  <a:tcPr/>
                </a:tc>
                <a:tc hMerge="1">
                  <a:txBody>
                    <a:bodyPr/>
                    <a:lstStyle/>
                    <a:p>
                      <a:endParaRPr lang="nb-NO"/>
                    </a:p>
                  </a:txBody>
                  <a:tcPr/>
                </a:tc>
                <a:extLst>
                  <a:ext uri="{0D108BD9-81ED-4DB2-BD59-A6C34878D82A}">
                    <a16:rowId xmlns:a16="http://schemas.microsoft.com/office/drawing/2014/main" val="10002"/>
                  </a:ext>
                </a:extLst>
              </a:tr>
            </a:tbl>
          </a:graphicData>
        </a:graphic>
      </p:graphicFrame>
      <p:grpSp>
        <p:nvGrpSpPr>
          <p:cNvPr id="141" name="Google Shape;141;p19"/>
          <p:cNvGrpSpPr/>
          <p:nvPr/>
        </p:nvGrpSpPr>
        <p:grpSpPr>
          <a:xfrm>
            <a:off x="13999925" y="2400964"/>
            <a:ext cx="519600" cy="1236436"/>
            <a:chOff x="4246325" y="4458364"/>
            <a:chExt cx="519600" cy="1236436"/>
          </a:xfrm>
        </p:grpSpPr>
        <p:cxnSp>
          <p:nvCxnSpPr>
            <p:cNvPr id="142" name="Google Shape;142;p19"/>
            <p:cNvCxnSpPr/>
            <p:nvPr/>
          </p:nvCxnSpPr>
          <p:spPr>
            <a:xfrm rot="10800000">
              <a:off x="4246325" y="4458364"/>
              <a:ext cx="17400" cy="1080000"/>
            </a:xfrm>
            <a:prstGeom prst="straightConnector1">
              <a:avLst/>
            </a:prstGeom>
            <a:noFill/>
            <a:ln w="38100" cap="flat" cmpd="sng">
              <a:solidFill>
                <a:srgbClr val="000000"/>
              </a:solidFill>
              <a:prstDash val="solid"/>
              <a:round/>
              <a:headEnd type="none" w="med" len="med"/>
              <a:tailEnd type="triangle" w="med" len="med"/>
            </a:ln>
          </p:spPr>
        </p:cxnSp>
        <p:sp>
          <p:nvSpPr>
            <p:cNvPr id="143" name="Google Shape;143;p19"/>
            <p:cNvSpPr txBox="1"/>
            <p:nvPr/>
          </p:nvSpPr>
          <p:spPr>
            <a:xfrm>
              <a:off x="4263725" y="5048300"/>
              <a:ext cx="502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 sz="3000" b="1"/>
                <a:t>N</a:t>
              </a:r>
              <a:endParaRPr sz="3000" b="1"/>
            </a:p>
          </p:txBody>
        </p:sp>
      </p:grpSp>
      <p:grpSp>
        <p:nvGrpSpPr>
          <p:cNvPr id="144" name="Google Shape;144;p19"/>
          <p:cNvGrpSpPr/>
          <p:nvPr/>
        </p:nvGrpSpPr>
        <p:grpSpPr>
          <a:xfrm>
            <a:off x="3753425" y="3342425"/>
            <a:ext cx="3186600" cy="2358900"/>
            <a:chOff x="3452100" y="4159825"/>
            <a:chExt cx="3186600" cy="2358900"/>
          </a:xfrm>
        </p:grpSpPr>
        <p:sp>
          <p:nvSpPr>
            <p:cNvPr id="145" name="Google Shape;145;p19"/>
            <p:cNvSpPr txBox="1"/>
            <p:nvPr/>
          </p:nvSpPr>
          <p:spPr>
            <a:xfrm>
              <a:off x="3452100" y="4159825"/>
              <a:ext cx="3186600" cy="1025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 b="1">
                  <a:solidFill>
                    <a:schemeClr val="dk1"/>
                  </a:solidFill>
                </a:rPr>
                <a:t>CE1</a:t>
              </a:r>
              <a:endParaRPr b="1">
                <a:solidFill>
                  <a:schemeClr val="dk1"/>
                </a:solidFill>
              </a:endParaRPr>
            </a:p>
            <a:p>
              <a:pPr marL="0" lvl="0" indent="0" algn="l" rtl="0">
                <a:spcBef>
                  <a:spcPts val="0"/>
                </a:spcBef>
                <a:spcAft>
                  <a:spcPts val="0"/>
                </a:spcAft>
                <a:buNone/>
              </a:pPr>
              <a:r>
                <a:rPr lang="fr" b="1">
                  <a:solidFill>
                    <a:schemeClr val="dk1"/>
                  </a:solidFill>
                </a:rPr>
                <a:t>SUPPORT BLDG 01</a:t>
              </a:r>
              <a:endParaRPr b="1">
                <a:solidFill>
                  <a:schemeClr val="dk1"/>
                </a:solidFill>
              </a:endParaRPr>
            </a:p>
            <a:p>
              <a:pPr marL="0" lvl="0" indent="0" algn="l" rtl="0">
                <a:spcBef>
                  <a:spcPts val="0"/>
                </a:spcBef>
                <a:spcAft>
                  <a:spcPts val="0"/>
                </a:spcAft>
                <a:buNone/>
              </a:pPr>
              <a:r>
                <a:rPr lang="fr" b="1">
                  <a:solidFill>
                    <a:schemeClr val="dk1"/>
                  </a:solidFill>
                </a:rPr>
                <a:t>PV CHAR: xxx xx</a:t>
              </a:r>
              <a:endParaRPr b="1">
                <a:solidFill>
                  <a:schemeClr val="dk1"/>
                </a:solidFill>
              </a:endParaRPr>
            </a:p>
            <a:p>
              <a:pPr marL="0" lvl="0" indent="0" algn="l" rtl="0">
                <a:spcBef>
                  <a:spcPts val="0"/>
                </a:spcBef>
                <a:spcAft>
                  <a:spcPts val="0"/>
                </a:spcAft>
                <a:buNone/>
              </a:pPr>
              <a:r>
                <a:rPr lang="fr" b="1">
                  <a:solidFill>
                    <a:schemeClr val="dk1"/>
                  </a:solidFill>
                </a:rPr>
                <a:t>L = xxx FT, W = xx FT, H = xx FT</a:t>
              </a:r>
              <a:endParaRPr b="1">
                <a:solidFill>
                  <a:schemeClr val="dk1"/>
                </a:solidFill>
              </a:endParaRPr>
            </a:p>
          </p:txBody>
        </p:sp>
        <p:cxnSp>
          <p:nvCxnSpPr>
            <p:cNvPr id="146" name="Google Shape;146;p19"/>
            <p:cNvCxnSpPr>
              <a:stCxn id="145" idx="2"/>
            </p:cNvCxnSpPr>
            <p:nvPr/>
          </p:nvCxnSpPr>
          <p:spPr>
            <a:xfrm>
              <a:off x="5045400" y="5185225"/>
              <a:ext cx="1002000" cy="1333500"/>
            </a:xfrm>
            <a:prstGeom prst="straightConnector1">
              <a:avLst/>
            </a:prstGeom>
            <a:noFill/>
            <a:ln w="19050" cap="flat" cmpd="sng">
              <a:solidFill>
                <a:srgbClr val="000000"/>
              </a:solidFill>
              <a:prstDash val="solid"/>
              <a:round/>
              <a:headEnd type="none" w="med" len="med"/>
              <a:tailEnd type="none" w="med" len="med"/>
            </a:ln>
          </p:spPr>
        </p:cxnSp>
      </p:grpSp>
      <p:sp>
        <p:nvSpPr>
          <p:cNvPr id="147" name="Google Shape;147;p19"/>
          <p:cNvSpPr/>
          <p:nvPr/>
        </p:nvSpPr>
        <p:spPr>
          <a:xfrm>
            <a:off x="846775" y="2500725"/>
            <a:ext cx="8999883" cy="7290031"/>
          </a:xfrm>
          <a:custGeom>
            <a:avLst/>
            <a:gdLst/>
            <a:ahLst/>
            <a:cxnLst/>
            <a:rect l="l" t="t" r="r" b="b"/>
            <a:pathLst>
              <a:path w="181495" h="146858" extrusionOk="0">
                <a:moveTo>
                  <a:pt x="1386" y="53340"/>
                </a:moveTo>
                <a:lnTo>
                  <a:pt x="65117" y="0"/>
                </a:lnTo>
                <a:lnTo>
                  <a:pt x="169026" y="58189"/>
                </a:lnTo>
                <a:lnTo>
                  <a:pt x="181495" y="145473"/>
                </a:lnTo>
                <a:lnTo>
                  <a:pt x="63731" y="146858"/>
                </a:lnTo>
                <a:lnTo>
                  <a:pt x="0" y="82435"/>
                </a:lnTo>
                <a:lnTo>
                  <a:pt x="2079" y="53340"/>
                </a:lnTo>
              </a:path>
            </a:pathLst>
          </a:custGeom>
          <a:noFill/>
          <a:ln w="19050" cap="flat" cmpd="sng">
            <a:solidFill>
              <a:srgbClr val="CCCCCC"/>
            </a:solidFill>
            <a:prstDash val="solid"/>
            <a:round/>
            <a:headEnd type="none" w="med" len="med"/>
            <a:tailEnd type="none" w="med" len="med"/>
          </a:ln>
        </p:spPr>
        <p:txBody>
          <a:bodyPr/>
          <a:lstStyle/>
          <a:p>
            <a:endParaRPr lang="hu-HU"/>
          </a:p>
        </p:txBody>
      </p:sp>
      <p:sp>
        <p:nvSpPr>
          <p:cNvPr id="148" name="Google Shape;148;p19"/>
          <p:cNvSpPr txBox="1"/>
          <p:nvPr/>
        </p:nvSpPr>
        <p:spPr>
          <a:xfrm>
            <a:off x="0" y="10141525"/>
            <a:ext cx="3186600" cy="6144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t>[CLASSIFICATION]</a:t>
            </a:r>
            <a:endParaRPr b="1"/>
          </a:p>
          <a:p>
            <a:pPr marL="0" lvl="0" indent="0" algn="ctr" rtl="0">
              <a:spcBef>
                <a:spcPts val="0"/>
              </a:spcBef>
              <a:spcAft>
                <a:spcPts val="0"/>
              </a:spcAft>
              <a:buNone/>
            </a:pPr>
            <a:r>
              <a:rPr lang="fr" b="1"/>
              <a:t> [DISSEMINATION CONTROLS]</a:t>
            </a:r>
            <a:endParaRPr b="1"/>
          </a:p>
        </p:txBody>
      </p:sp>
      <p:sp>
        <p:nvSpPr>
          <p:cNvPr id="149" name="Google Shape;149;p19"/>
          <p:cNvSpPr txBox="1"/>
          <p:nvPr/>
        </p:nvSpPr>
        <p:spPr>
          <a:xfrm>
            <a:off x="99300" y="1998525"/>
            <a:ext cx="3186600" cy="502200"/>
          </a:xfrm>
          <a:prstGeom prst="rect">
            <a:avLst/>
          </a:prstGeom>
          <a:solidFill>
            <a:schemeClr val="l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b="1">
                <a:solidFill>
                  <a:srgbClr val="FF0000"/>
                </a:solidFill>
              </a:rPr>
              <a:t>[CLASSIFICATION]</a:t>
            </a:r>
            <a:endParaRPr b="1">
              <a:solidFill>
                <a:srgbClr val="FF0000"/>
              </a:solidFill>
            </a:endParaRPr>
          </a:p>
        </p:txBody>
      </p:sp>
      <p:pic>
        <p:nvPicPr>
          <p:cNvPr id="150" name="Google Shape;150;p19">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a:solidFill>
                  <a:schemeClr val="dk1"/>
                </a:solidFill>
              </a:rPr>
              <a:t>ACRONYMS</a:t>
            </a:r>
            <a:endParaRPr sz="4200" b="1" u="sng">
              <a:solidFill>
                <a:schemeClr val="dk1"/>
              </a:solidFill>
            </a:endParaRPr>
          </a:p>
        </p:txBody>
      </p:sp>
      <p:graphicFrame>
        <p:nvGraphicFramePr>
          <p:cNvPr id="275" name="Google Shape;275;p27"/>
          <p:cNvGraphicFramePr/>
          <p:nvPr/>
        </p:nvGraphicFramePr>
        <p:xfrm>
          <a:off x="952500" y="2088750"/>
          <a:ext cx="13215000" cy="8173050"/>
        </p:xfrm>
        <a:graphic>
          <a:graphicData uri="http://schemas.openxmlformats.org/drawingml/2006/table">
            <a:tbl>
              <a:tblPr>
                <a:noFill/>
                <a:tableStyleId>{AE7EAA58-4EDA-4114-B047-75ABB572CC32}</a:tableStyleId>
              </a:tblPr>
              <a:tblGrid>
                <a:gridCol w="2170925">
                  <a:extLst>
                    <a:ext uri="{9D8B030D-6E8A-4147-A177-3AD203B41FA5}">
                      <a16:colId xmlns:a16="http://schemas.microsoft.com/office/drawing/2014/main" val="20000"/>
                    </a:ext>
                  </a:extLst>
                </a:gridCol>
                <a:gridCol w="3284625">
                  <a:extLst>
                    <a:ext uri="{9D8B030D-6E8A-4147-A177-3AD203B41FA5}">
                      <a16:colId xmlns:a16="http://schemas.microsoft.com/office/drawing/2014/main" val="20001"/>
                    </a:ext>
                  </a:extLst>
                </a:gridCol>
                <a:gridCol w="7759450">
                  <a:extLst>
                    <a:ext uri="{9D8B030D-6E8A-4147-A177-3AD203B41FA5}">
                      <a16:colId xmlns:a16="http://schemas.microsoft.com/office/drawing/2014/main" val="20002"/>
                    </a:ext>
                  </a:extLst>
                </a:gridCol>
              </a:tblGrid>
              <a:tr h="520700">
                <a:tc>
                  <a:txBody>
                    <a:bodyPr/>
                    <a:lstStyle/>
                    <a:p>
                      <a:pPr marL="0" lvl="0" indent="0" algn="ctr" rtl="0">
                        <a:spcBef>
                          <a:spcPts val="0"/>
                        </a:spcBef>
                        <a:spcAft>
                          <a:spcPts val="0"/>
                        </a:spcAft>
                        <a:buNone/>
                      </a:pPr>
                      <a:r>
                        <a:rPr lang="fr" sz="1600" b="1">
                          <a:solidFill>
                            <a:schemeClr val="lt1"/>
                          </a:solidFill>
                        </a:rPr>
                        <a:t>ACRONYM</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MEANING</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fr" sz="1600" b="1">
                          <a:solidFill>
                            <a:schemeClr val="lt1"/>
                          </a:solidFill>
                        </a:rPr>
                        <a:t>DEFINITION</a:t>
                      </a:r>
                      <a:endParaRPr sz="1600" b="1">
                        <a:solidFill>
                          <a:schemeClr val="lt1"/>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extLst>
                  <a:ext uri="{0D108BD9-81ED-4DB2-BD59-A6C34878D82A}">
                    <a16:rowId xmlns:a16="http://schemas.microsoft.com/office/drawing/2014/main" val="10000"/>
                  </a:ext>
                </a:extLst>
              </a:tr>
              <a:tr h="446300">
                <a:tc>
                  <a:txBody>
                    <a:bodyPr/>
                    <a:lstStyle/>
                    <a:p>
                      <a:pPr marL="0" lvl="0" indent="0" algn="ctr" rtl="0">
                        <a:spcBef>
                          <a:spcPts val="0"/>
                        </a:spcBef>
                        <a:spcAft>
                          <a:spcPts val="0"/>
                        </a:spcAft>
                        <a:buNone/>
                      </a:pPr>
                      <a:r>
                        <a:rPr lang="fr" b="1"/>
                        <a:t>BE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b="1">
                          <a:solidFill>
                            <a:schemeClr val="dk1"/>
                          </a:solidFill>
                        </a:rPr>
                        <a:t>Basic Encyclopedia Number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Alpha/numeric code unique to an installation for incorporation within various national and tactical systems.</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46300">
                <a:tc>
                  <a:txBody>
                    <a:bodyPr/>
                    <a:lstStyle/>
                    <a:p>
                      <a:pPr marL="0" lvl="0" indent="0" algn="ctr" rtl="0">
                        <a:spcBef>
                          <a:spcPts val="0"/>
                        </a:spcBef>
                        <a:spcAft>
                          <a:spcPts val="0"/>
                        </a:spcAft>
                        <a:buNone/>
                      </a:pPr>
                      <a:r>
                        <a:rPr lang="fr" b="1"/>
                        <a:t>CATCODE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Category Code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The data Element that classifies the function and purpose of an installation or a facility.</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46300">
                <a:tc>
                  <a:txBody>
                    <a:bodyPr/>
                    <a:lstStyle/>
                    <a:p>
                      <a:pPr marL="0" lvl="0" indent="0" algn="ctr" rtl="0">
                        <a:spcBef>
                          <a:spcPts val="0"/>
                        </a:spcBef>
                        <a:spcAft>
                          <a:spcPts val="0"/>
                        </a:spcAft>
                        <a:buNone/>
                      </a:pPr>
                      <a:r>
                        <a:rPr lang="fr" b="1"/>
                        <a:t>MIDB</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Modernized Integrated Database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 database comprised of information on facilities of military significance, military forces, and related equipment. </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46300">
                <a:tc>
                  <a:txBody>
                    <a:bodyPr/>
                    <a:lstStyle/>
                    <a:p>
                      <a:pPr marL="0" lvl="0" indent="0" algn="ctr" rtl="0">
                        <a:spcBef>
                          <a:spcPts val="0"/>
                        </a:spcBef>
                        <a:spcAft>
                          <a:spcPts val="0"/>
                        </a:spcAft>
                        <a:buNone/>
                      </a:pPr>
                      <a:r>
                        <a:rPr lang="fr" b="1"/>
                        <a:t>ICOD</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a:buNone/>
                      </a:pPr>
                      <a:r>
                        <a:rPr lang="fr" b="1">
                          <a:solidFill>
                            <a:schemeClr val="dk1"/>
                          </a:solidFill>
                        </a:rPr>
                        <a:t>Intelligence Cut Off Date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The date of the latest intelligence data inputted to a feature.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46300">
                <a:tc>
                  <a:txBody>
                    <a:bodyPr/>
                    <a:lstStyle/>
                    <a:p>
                      <a:pPr marL="0" lvl="0" indent="0" algn="ctr" rtl="0">
                        <a:spcBef>
                          <a:spcPts val="0"/>
                        </a:spcBef>
                        <a:spcAft>
                          <a:spcPts val="0"/>
                        </a:spcAft>
                        <a:buNone/>
                      </a:pPr>
                      <a:r>
                        <a:rPr lang="fr" b="1"/>
                        <a:t>DOI</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Date of Image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Date on which a geospatial or intelligence-related image was captured.</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46300">
                <a:tc>
                  <a:txBody>
                    <a:bodyPr/>
                    <a:lstStyle/>
                    <a:p>
                      <a:pPr marL="0" lvl="0" indent="0" algn="ctr" rtl="0">
                        <a:spcBef>
                          <a:spcPts val="0"/>
                        </a:spcBef>
                        <a:spcAft>
                          <a:spcPts val="0"/>
                        </a:spcAft>
                        <a:buNone/>
                      </a:pPr>
                      <a:r>
                        <a:rPr lang="fr" b="1"/>
                        <a:t>CE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Critical Element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An element of an entity or object that enables it to perform its primary function.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46300">
                <a:tc>
                  <a:txBody>
                    <a:bodyPr/>
                    <a:lstStyle/>
                    <a:p>
                      <a:pPr marL="0" lvl="0" indent="0" algn="ctr" rtl="0">
                        <a:spcBef>
                          <a:spcPts val="0"/>
                        </a:spcBef>
                        <a:spcAft>
                          <a:spcPts val="0"/>
                        </a:spcAft>
                        <a:buNone/>
                      </a:pPr>
                      <a:r>
                        <a:rPr lang="fr" b="1"/>
                        <a:t>PV CHAR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Physical Vulnerability Characteristic</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Standardized alphanumeric code describing the physical and structural properties of a target.</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46300">
                <a:tc>
                  <a:txBody>
                    <a:bodyPr/>
                    <a:lstStyle/>
                    <a:p>
                      <a:pPr marL="0" lvl="0" indent="0" algn="ctr" rtl="0">
                        <a:spcBef>
                          <a:spcPts val="0"/>
                        </a:spcBef>
                        <a:spcAft>
                          <a:spcPts val="0"/>
                        </a:spcAft>
                        <a:buNone/>
                      </a:pPr>
                      <a:r>
                        <a:rPr lang="fr" b="1"/>
                        <a:t>JDPI</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Joint Desired Point of Impact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A unique, alphanumeric coded aimpoint identified by a three dimensional mensurated point. It represents a weapon or capability desired point of impact or penetration.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446300">
                <a:tc>
                  <a:txBody>
                    <a:bodyPr/>
                    <a:lstStyle/>
                    <a:p>
                      <a:pPr marL="0" lvl="0" indent="0" algn="ctr" rtl="0">
                        <a:spcBef>
                          <a:spcPts val="0"/>
                        </a:spcBef>
                        <a:spcAft>
                          <a:spcPts val="0"/>
                        </a:spcAft>
                        <a:buNone/>
                      </a:pPr>
                      <a:r>
                        <a:rPr lang="fr" b="1"/>
                        <a:t>CE90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Circular Error at 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90 percent confidence level in the horizontal plane.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r h="446300">
                <a:tc>
                  <a:txBody>
                    <a:bodyPr/>
                    <a:lstStyle/>
                    <a:p>
                      <a:pPr marL="0" lvl="0" indent="0" algn="ctr" rtl="0">
                        <a:spcBef>
                          <a:spcPts val="0"/>
                        </a:spcBef>
                        <a:spcAft>
                          <a:spcPts val="0"/>
                        </a:spcAft>
                        <a:buNone/>
                      </a:pPr>
                      <a:r>
                        <a:rPr lang="fr" b="1"/>
                        <a:t>LE90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Linear Error at 90%</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Clr>
                          <a:schemeClr val="dk1"/>
                        </a:buClr>
                        <a:buSzPts val="1100"/>
                        <a:buFont typeface="Arial"/>
                        <a:buNone/>
                      </a:pPr>
                      <a:r>
                        <a:rPr lang="fr" sz="1200">
                          <a:solidFill>
                            <a:schemeClr val="dk1"/>
                          </a:solidFill>
                        </a:rPr>
                        <a:t>90 percent confidence level in the vertical dimension</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0"/>
                  </a:ext>
                </a:extLst>
              </a:tr>
              <a:tr h="446300">
                <a:tc>
                  <a:txBody>
                    <a:bodyPr/>
                    <a:lstStyle/>
                    <a:p>
                      <a:pPr marL="0" lvl="0" indent="0" algn="ctr" rtl="0">
                        <a:spcBef>
                          <a:spcPts val="0"/>
                        </a:spcBef>
                        <a:spcAft>
                          <a:spcPts val="0"/>
                        </a:spcAft>
                        <a:buNone/>
                      </a:pPr>
                      <a:r>
                        <a:rPr lang="fr" b="1"/>
                        <a:t>MSL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Mean Sea Level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Elevation above Earth reference geoid.</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1"/>
                  </a:ext>
                </a:extLst>
              </a:tr>
              <a:tr h="446300">
                <a:tc>
                  <a:txBody>
                    <a:bodyPr/>
                    <a:lstStyle/>
                    <a:p>
                      <a:pPr marL="0" lvl="0" indent="0" algn="ctr" rtl="0">
                        <a:spcBef>
                          <a:spcPts val="0"/>
                        </a:spcBef>
                        <a:spcAft>
                          <a:spcPts val="0"/>
                        </a:spcAft>
                        <a:buNone/>
                      </a:pPr>
                      <a:r>
                        <a:rPr lang="fr" b="1"/>
                        <a:t>AGL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Above Ground Level</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Elevation above ground surface.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2"/>
                  </a:ext>
                </a:extLst>
              </a:tr>
              <a:tr h="446300">
                <a:tc>
                  <a:txBody>
                    <a:bodyPr/>
                    <a:lstStyle/>
                    <a:p>
                      <a:pPr marL="0" lvl="0" indent="0" algn="ctr" rtl="0">
                        <a:spcBef>
                          <a:spcPts val="0"/>
                        </a:spcBef>
                        <a:spcAft>
                          <a:spcPts val="0"/>
                        </a:spcAft>
                        <a:buNone/>
                      </a:pPr>
                      <a:r>
                        <a:rPr lang="fr" b="1"/>
                        <a:t>NCC</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Nearest Collateral Concern</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Closest non-targeted structure, area, or entity near a planned point of impact that may be at risk of unintended damage during a military strike.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3"/>
                  </a:ext>
                </a:extLst>
              </a:tr>
              <a:tr h="446300">
                <a:tc>
                  <a:txBody>
                    <a:bodyPr/>
                    <a:lstStyle/>
                    <a:p>
                      <a:pPr marL="0" lvl="0" indent="0" algn="ctr" rtl="0">
                        <a:spcBef>
                          <a:spcPts val="0"/>
                        </a:spcBef>
                        <a:spcAft>
                          <a:spcPts val="0"/>
                        </a:spcAft>
                        <a:buNone/>
                      </a:pPr>
                      <a:r>
                        <a:rPr lang="fr" b="1"/>
                        <a:t>CER</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Collateral effects radius</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Radius within which collateral damage might happen based on the weapon's characteristics, the target environment, and other operational factors.</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4"/>
                  </a:ext>
                </a:extLst>
              </a:tr>
              <a:tr h="446300">
                <a:tc>
                  <a:txBody>
                    <a:bodyPr/>
                    <a:lstStyle/>
                    <a:p>
                      <a:pPr marL="0" lvl="0" indent="0" algn="ctr" rtl="0">
                        <a:spcBef>
                          <a:spcPts val="0"/>
                        </a:spcBef>
                        <a:spcAft>
                          <a:spcPts val="0"/>
                        </a:spcAft>
                        <a:buNone/>
                      </a:pPr>
                      <a:r>
                        <a:rPr lang="fr" b="1"/>
                        <a:t>CDE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Collateral damage estimate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Systematic process used in military targeting to evaluate the potential for unintended damage or harm to non-combatant entities, structures, or personnel as a result of a planned strike.</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5"/>
                  </a:ext>
                </a:extLst>
              </a:tr>
              <a:tr h="446300">
                <a:tc>
                  <a:txBody>
                    <a:bodyPr/>
                    <a:lstStyle/>
                    <a:p>
                      <a:pPr marL="0" lvl="0" indent="0" algn="ctr" rtl="0">
                        <a:spcBef>
                          <a:spcPts val="0"/>
                        </a:spcBef>
                        <a:spcAft>
                          <a:spcPts val="0"/>
                        </a:spcAft>
                        <a:buNone/>
                      </a:pPr>
                      <a:r>
                        <a:rPr lang="fr" b="1"/>
                        <a:t>NSE</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fr" b="1"/>
                        <a:t>No Strike Element</a:t>
                      </a:r>
                      <a:endParaRPr b="1"/>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just" rtl="0">
                        <a:spcBef>
                          <a:spcPts val="0"/>
                        </a:spcBef>
                        <a:spcAft>
                          <a:spcPts val="0"/>
                        </a:spcAft>
                        <a:buNone/>
                      </a:pPr>
                      <a:r>
                        <a:rPr lang="fr" sz="1200"/>
                        <a:t>Specific entities, locations, or objects that are protected from intentional targeting under the Law of Armed Conflict (LOAC) or by operational policy.</a:t>
                      </a:r>
                      <a:endParaRPr sz="1200"/>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TARGET CATEGORIES</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aphicFrame>
        <p:nvGraphicFramePr>
          <p:cNvPr id="4" name="Tabell 3"/>
          <p:cNvGraphicFramePr>
            <a:graphicFrameLocks noGrp="1"/>
          </p:cNvGraphicFramePr>
          <p:nvPr/>
        </p:nvGraphicFramePr>
        <p:xfrm>
          <a:off x="5158846" y="3058866"/>
          <a:ext cx="4800600" cy="4573905"/>
        </p:xfrm>
        <a:graphic>
          <a:graphicData uri="http://schemas.openxmlformats.org/drawingml/2006/table">
            <a:tbl>
              <a:tblPr/>
              <a:tblGrid>
                <a:gridCol w="888412">
                  <a:extLst>
                    <a:ext uri="{9D8B030D-6E8A-4147-A177-3AD203B41FA5}">
                      <a16:colId xmlns:a16="http://schemas.microsoft.com/office/drawing/2014/main" val="20000"/>
                    </a:ext>
                  </a:extLst>
                </a:gridCol>
                <a:gridCol w="3912188">
                  <a:extLst>
                    <a:ext uri="{9D8B030D-6E8A-4147-A177-3AD203B41FA5}">
                      <a16:colId xmlns:a16="http://schemas.microsoft.com/office/drawing/2014/main" val="20001"/>
                    </a:ext>
                  </a:extLst>
                </a:gridCol>
              </a:tblGrid>
              <a:tr h="180975">
                <a:tc gridSpan="2">
                  <a:txBody>
                    <a:bodyPr/>
                    <a:lstStyle/>
                    <a:p>
                      <a:pPr algn="ctr" fontAlgn="b"/>
                      <a:r>
                        <a:rPr lang="nb-NO" sz="1200" b="1" i="0" u="none" strike="noStrike">
                          <a:solidFill>
                            <a:srgbClr val="000000"/>
                          </a:solidFill>
                          <a:latin typeface="Calibri"/>
                        </a:rPr>
                        <a:t>TARGET CATEGORIES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extLst>
                  <a:ext uri="{0D108BD9-81ED-4DB2-BD59-A6C34878D82A}">
                    <a16:rowId xmlns:a16="http://schemas.microsoft.com/office/drawing/2014/main" val="10000"/>
                  </a:ext>
                </a:extLst>
              </a:tr>
              <a:tr h="190500">
                <a:tc>
                  <a:txBody>
                    <a:bodyPr/>
                    <a:lstStyle/>
                    <a:p>
                      <a:pPr algn="l" fontAlgn="b"/>
                      <a:r>
                        <a:rPr lang="nb-NO" sz="1200" b="1" i="0" u="none" strike="noStrike">
                          <a:solidFill>
                            <a:srgbClr val="000000"/>
                          </a:solidFill>
                          <a:latin typeface="Calibri"/>
                        </a:rPr>
                        <a:t>CATEGORIES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ctr" fontAlgn="b"/>
                      <a:r>
                        <a:rPr lang="nb-NO" sz="1200" b="1" i="0" u="none" strike="noStrike">
                          <a:solidFill>
                            <a:srgbClr val="000000"/>
                          </a:solidFill>
                          <a:latin typeface="Calibri"/>
                        </a:rPr>
                        <a:t>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200025">
                <a:tc>
                  <a:txBody>
                    <a:bodyPr/>
                    <a:lstStyle/>
                    <a:p>
                      <a:pPr algn="ctr" fontAlgn="b"/>
                      <a:r>
                        <a:rPr lang="nb-NO" sz="1100" b="0" i="0" u="none" strike="noStrike">
                          <a:solidFill>
                            <a:srgbClr val="000000"/>
                          </a:solidFill>
                          <a:latin typeface="Arial"/>
                        </a:rPr>
                        <a:t>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Arial"/>
                        </a:rPr>
                        <a:t>Weapons of Mass destruction (Nuclear, Biological, Chemical)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0975">
                <a:tc>
                  <a:txBody>
                    <a:bodyPr/>
                    <a:lstStyle/>
                    <a:p>
                      <a:pPr algn="ctr" fontAlgn="b"/>
                      <a:r>
                        <a:rPr lang="nb-NO" sz="1100" b="0" i="0" u="none" strike="noStrike">
                          <a:solidFill>
                            <a:srgbClr val="000000"/>
                          </a:solidFill>
                          <a:latin typeface="Arial"/>
                        </a:rPr>
                        <a:t>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Command, Control and Communications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0975">
                <a:tc>
                  <a:txBody>
                    <a:bodyPr/>
                    <a:lstStyle/>
                    <a:p>
                      <a:pPr algn="ctr" fontAlgn="b"/>
                      <a:r>
                        <a:rPr lang="nb-NO" sz="1100" b="0" i="0" u="none" strike="noStrike">
                          <a:solidFill>
                            <a:srgbClr val="000000"/>
                          </a:solidFill>
                          <a:latin typeface="Arial"/>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Airforces and airfields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0975">
                <a:tc>
                  <a:txBody>
                    <a:bodyPr/>
                    <a:lstStyle/>
                    <a:p>
                      <a:pPr algn="ctr" fontAlgn="b"/>
                      <a:r>
                        <a:rPr lang="nb-NO" sz="1100" b="0" i="0" u="none" strike="noStrike">
                          <a:solidFill>
                            <a:srgbClr val="000000"/>
                          </a:solidFill>
                          <a:latin typeface="Arial"/>
                        </a:rPr>
                        <a:t>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Air Defence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0975">
                <a:tc>
                  <a:txBody>
                    <a:bodyPr/>
                    <a:lstStyle/>
                    <a:p>
                      <a:pPr algn="ctr" fontAlgn="b"/>
                      <a:r>
                        <a:rPr lang="nb-NO" sz="1100" b="0" i="0" u="none" strike="noStrike">
                          <a:solidFill>
                            <a:srgbClr val="000000"/>
                          </a:solidFill>
                          <a:latin typeface="Arial"/>
                        </a:rPr>
                        <a:t>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Ground forces and facilities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0975">
                <a:tc>
                  <a:txBody>
                    <a:bodyPr/>
                    <a:lstStyle/>
                    <a:p>
                      <a:pPr algn="ctr" fontAlgn="b"/>
                      <a:r>
                        <a:rPr lang="nb-NO" sz="1100" b="0" i="0" u="none" strike="noStrike">
                          <a:solidFill>
                            <a:srgbClr val="000000"/>
                          </a:solidFill>
                          <a:latin typeface="Arial"/>
                        </a:rPr>
                        <a:t>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Naval forces and ports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0975">
                <a:tc>
                  <a:txBody>
                    <a:bodyPr/>
                    <a:lstStyle/>
                    <a:p>
                      <a:pPr algn="ctr" fontAlgn="b"/>
                      <a:r>
                        <a:rPr lang="nb-NO" sz="1100" b="0" i="0" u="none" strike="noStrike">
                          <a:solidFill>
                            <a:srgbClr val="000000"/>
                          </a:solidFill>
                          <a:latin typeface="Arial"/>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Petroleum industry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025">
                <a:tc>
                  <a:txBody>
                    <a:bodyPr/>
                    <a:lstStyle/>
                    <a:p>
                      <a:pPr algn="ctr" fontAlgn="b"/>
                      <a:r>
                        <a:rPr lang="nb-NO" sz="1100" b="0" i="0" u="none" strike="noStrike">
                          <a:solidFill>
                            <a:srgbClr val="000000"/>
                          </a:solidFill>
                          <a:latin typeface="Arial"/>
                        </a:rPr>
                        <a:t>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Electric power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0975">
                <a:tc>
                  <a:txBody>
                    <a:bodyPr/>
                    <a:lstStyle/>
                    <a:p>
                      <a:pPr algn="ctr" fontAlgn="b"/>
                      <a:r>
                        <a:rPr lang="nb-NO" sz="1100" b="0" i="0" u="none" strike="noStrike">
                          <a:solidFill>
                            <a:srgbClr val="000000"/>
                          </a:solidFill>
                          <a:latin typeface="Arial"/>
                        </a:rPr>
                        <a:t>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latin typeface="Arial"/>
                        </a:rPr>
                        <a:t>Military production, supply and storage (Military industry)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0975">
                <a:tc>
                  <a:txBody>
                    <a:bodyPr/>
                    <a:lstStyle/>
                    <a:p>
                      <a:pPr algn="ctr" fontAlgn="b"/>
                      <a:r>
                        <a:rPr lang="nb-NO" sz="1100" b="0" i="0" u="none" strike="noStrike">
                          <a:solidFill>
                            <a:srgbClr val="000000"/>
                          </a:solidFill>
                          <a:latin typeface="Arial"/>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Transportation / lines of communications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0975">
                <a:tc>
                  <a:txBody>
                    <a:bodyPr/>
                    <a:lstStyle/>
                    <a:p>
                      <a:pPr algn="ctr" fontAlgn="b"/>
                      <a:r>
                        <a:rPr lang="nb-NO" sz="1100" b="0" i="0" u="none" strike="noStrike">
                          <a:solidFill>
                            <a:srgbClr val="000000"/>
                          </a:solidFill>
                          <a:latin typeface="Arial"/>
                        </a:rPr>
                        <a:t>11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Political leadership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0975">
                <a:tc>
                  <a:txBody>
                    <a:bodyPr/>
                    <a:lstStyle/>
                    <a:p>
                      <a:pPr algn="ctr" fontAlgn="b"/>
                      <a:r>
                        <a:rPr lang="nb-NO" sz="1100" b="0" i="0" u="none" strike="noStrike">
                          <a:solidFill>
                            <a:srgbClr val="000000"/>
                          </a:solidFill>
                          <a:latin typeface="Arial"/>
                        </a:rPr>
                        <a:t>12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Media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80975">
                <a:tc>
                  <a:txBody>
                    <a:bodyPr/>
                    <a:lstStyle/>
                    <a:p>
                      <a:pPr algn="ctr" fontAlgn="b"/>
                      <a:r>
                        <a:rPr lang="nb-NO" sz="1100" b="0" i="0" u="none" strike="noStrike">
                          <a:solidFill>
                            <a:srgbClr val="000000"/>
                          </a:solidFill>
                          <a:latin typeface="Arial"/>
                        </a:rPr>
                        <a:t>13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Industry (Civilian)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80975">
                <a:tc>
                  <a:txBody>
                    <a:bodyPr/>
                    <a:lstStyle/>
                    <a:p>
                      <a:pPr algn="ctr" fontAlgn="b"/>
                      <a:r>
                        <a:rPr lang="nb-NO" sz="1100" b="0" i="0" u="none" strike="noStrike">
                          <a:solidFill>
                            <a:srgbClr val="000000"/>
                          </a:solidFill>
                          <a:latin typeface="Arial"/>
                        </a:rPr>
                        <a:t>14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Infrastructure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80975">
                <a:tc>
                  <a:txBody>
                    <a:bodyPr/>
                    <a:lstStyle/>
                    <a:p>
                      <a:pPr algn="ctr" fontAlgn="b"/>
                      <a:r>
                        <a:rPr lang="nb-NO" sz="1100" b="0" i="0" u="none" strike="noStrike">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nb-NO" sz="1100" b="0" i="0" u="none" strike="noStrike" dirty="0">
                          <a:solidFill>
                            <a:srgbClr val="000000"/>
                          </a:solidFill>
                          <a:latin typeface="Arial"/>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322"/>
        <p:cNvGrpSpPr/>
        <p:nvPr/>
      </p:nvGrpSpPr>
      <p:grpSpPr>
        <a:xfrm>
          <a:off x="0" y="0"/>
          <a:ext cx="0" cy="0"/>
          <a:chOff x="0" y="0"/>
          <a:chExt cx="0" cy="0"/>
        </a:xfrm>
      </p:grpSpPr>
      <p:sp>
        <p:nvSpPr>
          <p:cNvPr id="323" name="Google Shape;323;p34"/>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DESIRED EFFECTS</a:t>
            </a:r>
            <a:endParaRPr sz="4200" b="1" u="sng">
              <a:solidFill>
                <a:schemeClr val="dk1"/>
              </a:solidFill>
            </a:endParaRPr>
          </a:p>
        </p:txBody>
      </p:sp>
      <p:graphicFrame>
        <p:nvGraphicFramePr>
          <p:cNvPr id="324" name="Google Shape;324;p34"/>
          <p:cNvGraphicFramePr/>
          <p:nvPr/>
        </p:nvGraphicFramePr>
        <p:xfrm>
          <a:off x="952500" y="2088750"/>
          <a:ext cx="13215000" cy="6954250"/>
        </p:xfrm>
        <a:graphic>
          <a:graphicData uri="http://schemas.openxmlformats.org/drawingml/2006/table">
            <a:tbl>
              <a:tblPr>
                <a:noFill/>
                <a:tableStyleId>{AE7EAA58-4EDA-4114-B047-75ABB572CC32}</a:tableStyleId>
              </a:tblPr>
              <a:tblGrid>
                <a:gridCol w="2727775">
                  <a:extLst>
                    <a:ext uri="{9D8B030D-6E8A-4147-A177-3AD203B41FA5}">
                      <a16:colId xmlns:a16="http://schemas.microsoft.com/office/drawing/2014/main" val="20000"/>
                    </a:ext>
                  </a:extLst>
                </a:gridCol>
                <a:gridCol w="781375">
                  <a:extLst>
                    <a:ext uri="{9D8B030D-6E8A-4147-A177-3AD203B41FA5}">
                      <a16:colId xmlns:a16="http://schemas.microsoft.com/office/drawing/2014/main" val="20001"/>
                    </a:ext>
                  </a:extLst>
                </a:gridCol>
                <a:gridCol w="9705850">
                  <a:extLst>
                    <a:ext uri="{9D8B030D-6E8A-4147-A177-3AD203B41FA5}">
                      <a16:colId xmlns:a16="http://schemas.microsoft.com/office/drawing/2014/main" val="20002"/>
                    </a:ext>
                  </a:extLst>
                </a:gridCol>
              </a:tblGrid>
              <a:tr h="520700">
                <a:tc gridSpan="3">
                  <a:txBody>
                    <a:bodyPr/>
                    <a:lstStyle/>
                    <a:p>
                      <a:pPr marL="0" lvl="0" indent="0" algn="l" rtl="0">
                        <a:spcBef>
                          <a:spcPts val="0"/>
                        </a:spcBef>
                        <a:spcAft>
                          <a:spcPts val="0"/>
                        </a:spcAft>
                        <a:buNone/>
                      </a:pPr>
                      <a:r>
                        <a:rPr lang="fr" sz="1600" u="sng" dirty="0">
                          <a:solidFill>
                            <a:schemeClr val="dk1"/>
                          </a:solidFill>
                        </a:rPr>
                        <a:t>Definition:</a:t>
                      </a:r>
                      <a:r>
                        <a:rPr lang="fr" sz="1600" dirty="0">
                          <a:solidFill>
                            <a:schemeClr val="dk1"/>
                          </a:solidFill>
                        </a:rPr>
                        <a:t> destructive effects available upon detonation of a weapon.</a:t>
                      </a:r>
                      <a:endParaRPr sz="1600">
                        <a:solidFill>
                          <a:schemeClr val="dk1"/>
                        </a:solidFill>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20700">
                <a:tc gridSpan="2">
                  <a:txBody>
                    <a:bodyPr/>
                    <a:lstStyle/>
                    <a:p>
                      <a:pPr marL="0" lvl="0" indent="0" algn="ctr" rtl="0">
                        <a:spcBef>
                          <a:spcPts val="0"/>
                        </a:spcBef>
                        <a:spcAft>
                          <a:spcPts val="0"/>
                        </a:spcAft>
                        <a:buNone/>
                      </a:pPr>
                      <a:r>
                        <a:rPr lang="fr" sz="1600" b="1">
                          <a:solidFill>
                            <a:schemeClr val="lt1"/>
                          </a:solidFill>
                        </a:rPr>
                        <a:t>KILL EFFECT</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tc hMerge="1">
                  <a:txBody>
                    <a:bodyPr/>
                    <a:lstStyle/>
                    <a:p>
                      <a:endParaRPr lang="en-US"/>
                    </a:p>
                  </a:txBody>
                  <a:tcPr/>
                </a:tc>
                <a:tc>
                  <a:txBody>
                    <a:bodyPr/>
                    <a:lstStyle/>
                    <a:p>
                      <a:pPr marL="0" lvl="0" indent="0" algn="ctr" rtl="0">
                        <a:spcBef>
                          <a:spcPts val="0"/>
                        </a:spcBef>
                        <a:spcAft>
                          <a:spcPts val="0"/>
                        </a:spcAft>
                        <a:buNone/>
                      </a:pPr>
                      <a:r>
                        <a:rPr lang="fr" sz="1600" b="1">
                          <a:solidFill>
                            <a:schemeClr val="lt1"/>
                          </a:solidFill>
                        </a:rPr>
                        <a:t>DEFINITION</a:t>
                      </a:r>
                      <a:endParaRPr sz="1600" b="1">
                        <a:solidFill>
                          <a:schemeClr val="lt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666666"/>
                    </a:solidFill>
                  </a:tcPr>
                </a:tc>
                <a:extLst>
                  <a:ext uri="{0D108BD9-81ED-4DB2-BD59-A6C34878D82A}">
                    <a16:rowId xmlns:a16="http://schemas.microsoft.com/office/drawing/2014/main" val="10001"/>
                  </a:ext>
                </a:extLst>
              </a:tr>
              <a:tr h="520700">
                <a:tc gridSpan="2">
                  <a:txBody>
                    <a:bodyPr/>
                    <a:lstStyle/>
                    <a:p>
                      <a:pPr marL="0" lvl="0" indent="0" algn="ctr" rtl="0">
                        <a:spcBef>
                          <a:spcPts val="0"/>
                        </a:spcBef>
                        <a:spcAft>
                          <a:spcPts val="0"/>
                        </a:spcAft>
                        <a:buNone/>
                      </a:pPr>
                      <a:r>
                        <a:rPr lang="fr" b="1">
                          <a:solidFill>
                            <a:schemeClr val="dk1"/>
                          </a:solidFill>
                        </a:rPr>
                        <a:t>BLAST</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high-pressure shockwave created by an explosion, traveling outward from the detonation point. Blast effects cause destruction by overpressure (compression force) and dynamic pressure (wind generated by the expanding gases), which can demolish structures, damage equipment, and injure personnel.</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20700">
                <a:tc gridSpan="2">
                  <a:txBody>
                    <a:bodyPr/>
                    <a:lstStyle/>
                    <a:p>
                      <a:pPr marL="0" lvl="0" indent="0" algn="ctr" rtl="0">
                        <a:spcBef>
                          <a:spcPts val="0"/>
                        </a:spcBef>
                        <a:spcAft>
                          <a:spcPts val="0"/>
                        </a:spcAft>
                        <a:buNone/>
                      </a:pPr>
                      <a:r>
                        <a:rPr lang="fr" b="1">
                          <a:solidFill>
                            <a:schemeClr val="dk1"/>
                          </a:solidFill>
                        </a:rPr>
                        <a:t>FRAGMENTATION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dirty="0">
                          <a:solidFill>
                            <a:schemeClr val="dk1"/>
                          </a:solidFill>
                        </a:rPr>
                        <a:t>The dispersal of shrapnel or debris from an exploding munition. Fragments are propelled outward at high velocity, targeting personnel, equipment, and light structures in the area of effect.</a:t>
                      </a:r>
                      <a:endParaRPr dirty="0">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20700">
                <a:tc gridSpan="2">
                  <a:txBody>
                    <a:bodyPr/>
                    <a:lstStyle/>
                    <a:p>
                      <a:pPr marL="0" lvl="0" indent="0" algn="ctr" rtl="0">
                        <a:spcBef>
                          <a:spcPts val="0"/>
                        </a:spcBef>
                        <a:spcAft>
                          <a:spcPts val="0"/>
                        </a:spcAft>
                        <a:buNone/>
                      </a:pPr>
                      <a:r>
                        <a:rPr lang="fr" b="1">
                          <a:solidFill>
                            <a:schemeClr val="dk1"/>
                          </a:solidFill>
                        </a:rPr>
                        <a:t>PENETRATION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effect of a munition or projectile piercing a target's surface without fully passing through it. Penetration is often used to defeat hardened targets, such as bunkers, by transferring energy into the target's structural layers.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520700">
                <a:tc gridSpan="2">
                  <a:txBody>
                    <a:bodyPr/>
                    <a:lstStyle/>
                    <a:p>
                      <a:pPr marL="0" lvl="0" indent="0" algn="ctr" rtl="0">
                        <a:spcBef>
                          <a:spcPts val="0"/>
                        </a:spcBef>
                        <a:spcAft>
                          <a:spcPts val="0"/>
                        </a:spcAft>
                        <a:buNone/>
                      </a:pPr>
                      <a:r>
                        <a:rPr lang="fr" b="1">
                          <a:solidFill>
                            <a:schemeClr val="dk1"/>
                          </a:solidFill>
                        </a:rPr>
                        <a:t>INCENDIARY</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combustion of materials caused by incendiary munitions, secondary explosions, or the heat from a blast. Fire destroys flammable materials and can cause secondary damage to structures and equipment, as well as injuries to personnel.</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520700">
                <a:tc gridSpan="2">
                  <a:txBody>
                    <a:bodyPr/>
                    <a:lstStyle/>
                    <a:p>
                      <a:pPr marL="0" lvl="0" indent="0" algn="ctr" rtl="0">
                        <a:spcBef>
                          <a:spcPts val="0"/>
                        </a:spcBef>
                        <a:spcAft>
                          <a:spcPts val="0"/>
                        </a:spcAft>
                        <a:buClr>
                          <a:schemeClr val="dk1"/>
                        </a:buClr>
                        <a:buSzPts val="1100"/>
                        <a:buFont typeface="Arial"/>
                        <a:buNone/>
                      </a:pPr>
                      <a:r>
                        <a:rPr lang="fr" b="1">
                          <a:solidFill>
                            <a:schemeClr val="dk1"/>
                          </a:solidFill>
                        </a:rPr>
                        <a:t>CRATERING</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Clr>
                          <a:schemeClr val="dk1"/>
                        </a:buClr>
                        <a:buSzPts val="1100"/>
                        <a:buFont typeface="Arial"/>
                        <a:buNone/>
                      </a:pPr>
                      <a:r>
                        <a:rPr lang="fr">
                          <a:solidFill>
                            <a:schemeClr val="dk1"/>
                          </a:solidFill>
                        </a:rPr>
                        <a:t>The formation of a crater in the ground caused by the impact or detonation of a munition. Cratering disrupts mobility and operations, damaging roads, runways, or creating obstacles in the battlefield.</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520700">
                <a:tc gridSpan="2">
                  <a:txBody>
                    <a:bodyPr/>
                    <a:lstStyle/>
                    <a:p>
                      <a:pPr marL="0" lvl="0" indent="0" algn="ctr" rtl="0">
                        <a:spcBef>
                          <a:spcPts val="0"/>
                        </a:spcBef>
                        <a:spcAft>
                          <a:spcPts val="0"/>
                        </a:spcAft>
                        <a:buNone/>
                      </a:pPr>
                      <a:r>
                        <a:rPr lang="fr" b="1">
                          <a:solidFill>
                            <a:schemeClr val="dk1"/>
                          </a:solidFill>
                        </a:rPr>
                        <a:t>PERFORATION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complete passage of a munition or projectile through a target, creating both an entry and exit point. Perforation may reduce the energy transfer to the target, making it less effective for destroying heavily armored or reinforced structures.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520700">
                <a:tc gridSpan="2">
                  <a:txBody>
                    <a:bodyPr/>
                    <a:lstStyle/>
                    <a:p>
                      <a:pPr marL="0" lvl="0" indent="0" algn="ctr" rtl="0">
                        <a:spcBef>
                          <a:spcPts val="0"/>
                        </a:spcBef>
                        <a:spcAft>
                          <a:spcPts val="0"/>
                        </a:spcAft>
                        <a:buNone/>
                      </a:pPr>
                      <a:r>
                        <a:rPr lang="fr" b="1">
                          <a:solidFill>
                            <a:schemeClr val="dk1"/>
                          </a:solidFill>
                        </a:rPr>
                        <a:t>EARTH SHOCK</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a:solidFill>
                            <a:schemeClr val="dk1"/>
                          </a:solidFill>
                        </a:rPr>
                        <a:t>The seismic-like vibrations transmitted through the ground from an explosion. Earth shock can damage underground structures, destabilize foundations, or incapacitate personnel in subterranean environments.</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520700">
                <a:tc gridSpan="2">
                  <a:txBody>
                    <a:bodyPr/>
                    <a:lstStyle/>
                    <a:p>
                      <a:pPr marL="0" lvl="0" indent="0" algn="ctr" rtl="0">
                        <a:spcBef>
                          <a:spcPts val="0"/>
                        </a:spcBef>
                        <a:spcAft>
                          <a:spcPts val="0"/>
                        </a:spcAft>
                        <a:buNone/>
                      </a:pPr>
                      <a:r>
                        <a:rPr lang="fr" b="1">
                          <a:solidFill>
                            <a:schemeClr val="dk1"/>
                          </a:solidFill>
                        </a:rPr>
                        <a:t>NUCLEAR RADIATION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dirty="0">
                          <a:solidFill>
                            <a:schemeClr val="dk1"/>
                          </a:solidFill>
                        </a:rPr>
                        <a:t>The release of ionizing radiation (alpha, beta, gamma, and neutron particles) from a nuclear explosion. Nuclear radiation can cause immediate biological damage, long-term health effects, and contamination of the environment.</a:t>
                      </a:r>
                      <a:endParaRPr>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20700">
                <a:tc gridSpan="2">
                  <a:txBody>
                    <a:bodyPr/>
                    <a:lstStyle/>
                    <a:p>
                      <a:pPr marL="0" lvl="0" indent="0" algn="ctr" rtl="0">
                        <a:spcBef>
                          <a:spcPts val="0"/>
                        </a:spcBef>
                        <a:spcAft>
                          <a:spcPts val="0"/>
                        </a:spcAft>
                        <a:buNone/>
                      </a:pPr>
                      <a:r>
                        <a:rPr lang="fr" b="1">
                          <a:solidFill>
                            <a:schemeClr val="dk1"/>
                          </a:solidFill>
                        </a:rPr>
                        <a:t>THERMAL RADIATION</a:t>
                      </a:r>
                      <a:endParaRPr b="1">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hMerge="1">
                  <a:txBody>
                    <a:bodyPr/>
                    <a:lstStyle/>
                    <a:p>
                      <a:endParaRPr lang="en-US"/>
                    </a:p>
                  </a:txBody>
                  <a:tcPr/>
                </a:tc>
                <a:tc>
                  <a:txBody>
                    <a:bodyPr/>
                    <a:lstStyle/>
                    <a:p>
                      <a:pPr marL="0" lvl="0" indent="0" algn="just" rtl="0">
                        <a:spcBef>
                          <a:spcPts val="0"/>
                        </a:spcBef>
                        <a:spcAft>
                          <a:spcPts val="0"/>
                        </a:spcAft>
                        <a:buNone/>
                      </a:pPr>
                      <a:r>
                        <a:rPr lang="fr" dirty="0">
                          <a:solidFill>
                            <a:schemeClr val="dk1"/>
                          </a:solidFill>
                        </a:rPr>
                        <a:t>The intense heat and light energy emitted by an explosion, especially in nuclear detonations. Thermal radiation causes burns, ignites materials, and can create secondary fires in the target area.</a:t>
                      </a:r>
                      <a:endParaRPr dirty="0">
                        <a:solidFill>
                          <a:schemeClr val="dk1"/>
                        </a:solidFill>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bl>
          </a:graphicData>
        </a:graphic>
      </p:graphicFrame>
      <p:pic>
        <p:nvPicPr>
          <p:cNvPr id="325" name="Google Shape;325;p34">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WEAPONEERING</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
        <p:nvSpPr>
          <p:cNvPr id="5" name="Rektangel 4"/>
          <p:cNvSpPr/>
          <p:nvPr/>
        </p:nvSpPr>
        <p:spPr>
          <a:xfrm>
            <a:off x="3779838" y="4329451"/>
            <a:ext cx="7559675" cy="2031325"/>
          </a:xfrm>
          <a:prstGeom prst="rect">
            <a:avLst/>
          </a:prstGeom>
        </p:spPr>
        <p:txBody>
          <a:bodyPr>
            <a:spAutoFit/>
          </a:bodyPr>
          <a:lstStyle/>
          <a:p>
            <a:pPr lvl="0"/>
            <a:r>
              <a:rPr lang="en-US" dirty="0" err="1"/>
              <a:t>Fuze</a:t>
            </a:r>
            <a:r>
              <a:rPr lang="en-US" dirty="0"/>
              <a:t> delay.</a:t>
            </a:r>
          </a:p>
          <a:p>
            <a:pPr lvl="0"/>
            <a:r>
              <a:rPr lang="en-US" dirty="0"/>
              <a:t> 0 ms = destroy the roof, </a:t>
            </a:r>
          </a:p>
          <a:p>
            <a:pPr lvl="0"/>
            <a:r>
              <a:rPr lang="en-US" dirty="0"/>
              <a:t>10 ms = explode 3 meters below roof, perfect for single storey building, </a:t>
            </a:r>
          </a:p>
          <a:p>
            <a:pPr lvl="0"/>
            <a:r>
              <a:rPr lang="en-US" dirty="0"/>
              <a:t>25 ms = good for all other buildings, explode inside the building. </a:t>
            </a:r>
          </a:p>
          <a:p>
            <a:pPr lvl="0"/>
            <a:r>
              <a:rPr lang="en-US" dirty="0"/>
              <a:t>60 ms for BLU-109 only, for bunkers or more than 20m high buildings.</a:t>
            </a:r>
          </a:p>
          <a:p>
            <a:pPr lvl="0"/>
            <a:endParaRPr lang="en-US" dirty="0"/>
          </a:p>
          <a:p>
            <a:pPr lvl="0"/>
            <a:r>
              <a:rPr lang="en-US" dirty="0"/>
              <a:t>For all bombs in level bombing, without specific input like impact angle on JDAMs, the higher you drop the bomb, the higher the impact angle. It goes from around 30° at 5000' to 60° at 250000. So basically you for the release profile by indicating the desired angle of impact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RISK ESTIMATE DISTANCES</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graphicFrame>
        <p:nvGraphicFramePr>
          <p:cNvPr id="4" name="Tabell 3"/>
          <p:cNvGraphicFramePr>
            <a:graphicFrameLocks noGrp="1"/>
          </p:cNvGraphicFramePr>
          <p:nvPr/>
        </p:nvGraphicFramePr>
        <p:xfrm>
          <a:off x="4825999" y="2454116"/>
          <a:ext cx="5467350" cy="5374005"/>
        </p:xfrm>
        <a:graphic>
          <a:graphicData uri="http://schemas.openxmlformats.org/drawingml/2006/table">
            <a:tbl>
              <a:tblPr/>
              <a:tblGrid>
                <a:gridCol w="1328592">
                  <a:extLst>
                    <a:ext uri="{9D8B030D-6E8A-4147-A177-3AD203B41FA5}">
                      <a16:colId xmlns:a16="http://schemas.microsoft.com/office/drawing/2014/main" val="20000"/>
                    </a:ext>
                  </a:extLst>
                </a:gridCol>
                <a:gridCol w="3149138">
                  <a:extLst>
                    <a:ext uri="{9D8B030D-6E8A-4147-A177-3AD203B41FA5}">
                      <a16:colId xmlns:a16="http://schemas.microsoft.com/office/drawing/2014/main" val="20001"/>
                    </a:ext>
                  </a:extLst>
                </a:gridCol>
                <a:gridCol w="989620">
                  <a:extLst>
                    <a:ext uri="{9D8B030D-6E8A-4147-A177-3AD203B41FA5}">
                      <a16:colId xmlns:a16="http://schemas.microsoft.com/office/drawing/2014/main" val="20002"/>
                    </a:ext>
                  </a:extLst>
                </a:gridCol>
              </a:tblGrid>
              <a:tr h="0">
                <a:tc>
                  <a:txBody>
                    <a:bodyPr/>
                    <a:lstStyle/>
                    <a:p>
                      <a:pPr algn="ctr">
                        <a:lnSpc>
                          <a:spcPct val="115000"/>
                        </a:lnSpc>
                        <a:spcAft>
                          <a:spcPts val="0"/>
                        </a:spcAft>
                      </a:pPr>
                      <a:r>
                        <a:rPr lang="en-US" sz="1100" b="1">
                          <a:latin typeface="Arial"/>
                          <a:ea typeface="Times New Roman"/>
                          <a:cs typeface="Arial"/>
                        </a:rPr>
                        <a:t>Weapon </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100" b="1">
                          <a:latin typeface="Arial"/>
                          <a:ea typeface="Times New Roman"/>
                          <a:cs typeface="Arial"/>
                        </a:rPr>
                        <a:t>Description</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lnSpc>
                          <a:spcPct val="115000"/>
                        </a:lnSpc>
                        <a:spcAft>
                          <a:spcPts val="0"/>
                        </a:spcAft>
                      </a:pPr>
                      <a:r>
                        <a:rPr lang="en-US" sz="1100" b="1">
                          <a:latin typeface="Arial"/>
                          <a:ea typeface="Times New Roman"/>
                          <a:cs typeface="Arial"/>
                        </a:rPr>
                        <a:t>0,1 % PI</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457200">
                        <a:lnSpc>
                          <a:spcPct val="115000"/>
                        </a:lnSpc>
                        <a:spcAft>
                          <a:spcPts val="0"/>
                        </a:spcAft>
                      </a:pPr>
                      <a:r>
                        <a:rPr lang="en-US" sz="1100" b="1">
                          <a:latin typeface="Arial"/>
                          <a:ea typeface="Times New Roman"/>
                          <a:cs typeface="Arial"/>
                        </a:rPr>
                        <a:t>MK-82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457200">
                        <a:lnSpc>
                          <a:spcPct val="115000"/>
                        </a:lnSpc>
                        <a:spcAft>
                          <a:spcPts val="0"/>
                        </a:spcAft>
                      </a:pPr>
                      <a:r>
                        <a:rPr lang="en-US" sz="1100" b="1">
                          <a:latin typeface="Arial"/>
                          <a:ea typeface="Times New Roman"/>
                          <a:cs typeface="Arial"/>
                        </a:rPr>
                        <a:t>MK-83</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457200">
                        <a:lnSpc>
                          <a:spcPct val="115000"/>
                        </a:lnSpc>
                        <a:spcAft>
                          <a:spcPts val="0"/>
                        </a:spcAft>
                      </a:pPr>
                      <a:r>
                        <a:rPr lang="en-US" sz="1100" b="1">
                          <a:latin typeface="Arial"/>
                          <a:ea typeface="Times New Roman"/>
                          <a:cs typeface="Arial"/>
                        </a:rPr>
                        <a:t>MK-84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457200">
                        <a:lnSpc>
                          <a:spcPct val="115000"/>
                        </a:lnSpc>
                        <a:spcAft>
                          <a:spcPts val="0"/>
                        </a:spcAft>
                      </a:pPr>
                      <a:r>
                        <a:rPr lang="en-US" sz="1100" b="1">
                          <a:latin typeface="Arial"/>
                          <a:ea typeface="Times New Roman"/>
                          <a:cs typeface="Arial"/>
                        </a:rPr>
                        <a:t>GBU-12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457200">
                        <a:lnSpc>
                          <a:spcPct val="115000"/>
                        </a:lnSpc>
                        <a:spcAft>
                          <a:spcPts val="0"/>
                        </a:spcAft>
                      </a:pPr>
                      <a:r>
                        <a:rPr lang="en-US" sz="1100" b="1">
                          <a:latin typeface="Arial"/>
                          <a:ea typeface="Times New Roman"/>
                          <a:cs typeface="Arial"/>
                        </a:rPr>
                        <a:t>GBU-16</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457200">
                        <a:lnSpc>
                          <a:spcPct val="115000"/>
                        </a:lnSpc>
                        <a:spcAft>
                          <a:spcPts val="0"/>
                        </a:spcAft>
                      </a:pPr>
                      <a:r>
                        <a:rPr lang="en-US" sz="1100" b="1">
                          <a:latin typeface="Arial"/>
                          <a:ea typeface="Times New Roman"/>
                          <a:cs typeface="Arial"/>
                        </a:rPr>
                        <a:t>GBU-10</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laserguided</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457200">
                        <a:lnSpc>
                          <a:spcPct val="115000"/>
                        </a:lnSpc>
                        <a:spcAft>
                          <a:spcPts val="0"/>
                        </a:spcAft>
                      </a:pPr>
                      <a:r>
                        <a:rPr lang="en-US" sz="1100" b="1">
                          <a:latin typeface="Arial"/>
                          <a:ea typeface="Times New Roman"/>
                          <a:cs typeface="Arial"/>
                        </a:rPr>
                        <a:t>GBU-24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laserguided, PAweway III, BLU-109</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457200">
                        <a:lnSpc>
                          <a:spcPct val="115000"/>
                        </a:lnSpc>
                        <a:spcAft>
                          <a:spcPts val="0"/>
                        </a:spcAft>
                      </a:pPr>
                      <a:r>
                        <a:rPr lang="en-US" sz="1100" b="1">
                          <a:latin typeface="Arial"/>
                          <a:ea typeface="Times New Roman"/>
                          <a:cs typeface="Arial"/>
                        </a:rPr>
                        <a:t>GBU-38</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marL="457200">
                        <a:lnSpc>
                          <a:spcPct val="115000"/>
                        </a:lnSpc>
                        <a:spcAft>
                          <a:spcPts val="0"/>
                        </a:spcAft>
                      </a:pPr>
                      <a:r>
                        <a:rPr lang="en-US" sz="1100" b="1">
                          <a:latin typeface="Arial"/>
                          <a:ea typeface="Times New Roman"/>
                          <a:cs typeface="Arial"/>
                        </a:rPr>
                        <a:t>GBU-32</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1000IbsINS/GPS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0">
                <a:tc>
                  <a:txBody>
                    <a:bodyPr/>
                    <a:lstStyle/>
                    <a:p>
                      <a:pPr marL="457200">
                        <a:lnSpc>
                          <a:spcPct val="115000"/>
                        </a:lnSpc>
                        <a:spcAft>
                          <a:spcPts val="0"/>
                        </a:spcAft>
                      </a:pPr>
                      <a:r>
                        <a:rPr lang="en-US" sz="1100" b="1">
                          <a:latin typeface="Arial"/>
                          <a:ea typeface="Times New Roman"/>
                          <a:cs typeface="Arial"/>
                        </a:rPr>
                        <a:t>GBU-31(V) 1/B</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INS/GPS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0">
                <a:tc>
                  <a:txBody>
                    <a:bodyPr/>
                    <a:lstStyle/>
                    <a:p>
                      <a:pPr marL="457200">
                        <a:lnSpc>
                          <a:spcPct val="115000"/>
                        </a:lnSpc>
                        <a:spcAft>
                          <a:spcPts val="0"/>
                        </a:spcAft>
                      </a:pPr>
                      <a:r>
                        <a:rPr lang="en-US" sz="1100" b="1">
                          <a:latin typeface="Arial"/>
                          <a:ea typeface="Times New Roman"/>
                          <a:cs typeface="Arial"/>
                        </a:rPr>
                        <a:t>GBU-31 (V)3(B</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2000Ibs, INS/GPS BLU-109</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250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0">
                <a:tc>
                  <a:txBody>
                    <a:bodyPr/>
                    <a:lstStyle/>
                    <a:p>
                      <a:pPr marL="457200">
                        <a:lnSpc>
                          <a:spcPct val="115000"/>
                        </a:lnSpc>
                        <a:spcAft>
                          <a:spcPts val="0"/>
                        </a:spcAft>
                      </a:pPr>
                      <a:r>
                        <a:rPr lang="en-US" sz="1100" b="1">
                          <a:latin typeface="Arial"/>
                          <a:ea typeface="Times New Roman"/>
                          <a:cs typeface="Arial"/>
                        </a:rPr>
                        <a:t>CBU-87</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0">
                <a:tc>
                  <a:txBody>
                    <a:bodyPr/>
                    <a:lstStyle/>
                    <a:p>
                      <a:pPr marL="457200">
                        <a:lnSpc>
                          <a:spcPct val="115000"/>
                        </a:lnSpc>
                        <a:spcAft>
                          <a:spcPts val="0"/>
                        </a:spcAft>
                      </a:pPr>
                      <a:r>
                        <a:rPr lang="en-US" sz="1100" b="1">
                          <a:latin typeface="Arial"/>
                          <a:ea typeface="Times New Roman"/>
                          <a:cs typeface="Arial"/>
                        </a:rPr>
                        <a:t>CBU-97</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0">
                <a:tc>
                  <a:txBody>
                    <a:bodyPr/>
                    <a:lstStyle/>
                    <a:p>
                      <a:pPr marL="457200">
                        <a:lnSpc>
                          <a:spcPct val="115000"/>
                        </a:lnSpc>
                        <a:spcAft>
                          <a:spcPts val="0"/>
                        </a:spcAft>
                      </a:pPr>
                      <a:r>
                        <a:rPr lang="en-US" sz="1100" b="1">
                          <a:latin typeface="Arial"/>
                          <a:ea typeface="Times New Roman"/>
                          <a:cs typeface="Arial"/>
                        </a:rPr>
                        <a:t>CBU-103</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0">
                <a:tc>
                  <a:txBody>
                    <a:bodyPr/>
                    <a:lstStyle/>
                    <a:p>
                      <a:pPr marL="457200">
                        <a:lnSpc>
                          <a:spcPct val="115000"/>
                        </a:lnSpc>
                        <a:spcAft>
                          <a:spcPts val="0"/>
                        </a:spcAft>
                      </a:pPr>
                      <a:r>
                        <a:rPr lang="en-US" sz="1100" b="1">
                          <a:latin typeface="Arial"/>
                          <a:ea typeface="Times New Roman"/>
                          <a:cs typeface="Arial"/>
                        </a:rPr>
                        <a:t>CBU-105</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0">
                <a:tc>
                  <a:txBody>
                    <a:bodyPr/>
                    <a:lstStyle/>
                    <a:p>
                      <a:pPr marL="457200">
                        <a:lnSpc>
                          <a:spcPct val="115000"/>
                        </a:lnSpc>
                        <a:spcAft>
                          <a:spcPts val="0"/>
                        </a:spcAft>
                      </a:pPr>
                      <a:r>
                        <a:rPr lang="en-US" sz="1100" b="1">
                          <a:latin typeface="Arial"/>
                          <a:ea typeface="Times New Roman"/>
                          <a:cs typeface="Arial"/>
                        </a:rPr>
                        <a:t>MK20 Rockeye</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0">
                <a:tc>
                  <a:txBody>
                    <a:bodyPr/>
                    <a:lstStyle/>
                    <a:p>
                      <a:pPr marL="457200">
                        <a:lnSpc>
                          <a:spcPct val="115000"/>
                        </a:lnSpc>
                        <a:spcAft>
                          <a:spcPts val="0"/>
                        </a:spcAft>
                      </a:pPr>
                      <a:r>
                        <a:rPr lang="en-US" sz="1100" b="1">
                          <a:latin typeface="Arial"/>
                          <a:ea typeface="Times New Roman"/>
                          <a:cs typeface="Arial"/>
                        </a:rPr>
                        <a:t>AGM-65</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0">
                <a:tc>
                  <a:txBody>
                    <a:bodyPr/>
                    <a:lstStyle/>
                    <a:p>
                      <a:pPr marL="457200">
                        <a:lnSpc>
                          <a:spcPct val="115000"/>
                        </a:lnSpc>
                        <a:spcAft>
                          <a:spcPts val="0"/>
                        </a:spcAft>
                      </a:pPr>
                      <a:r>
                        <a:rPr lang="en-US" sz="1100" b="1">
                          <a:latin typeface="Arial"/>
                          <a:ea typeface="Times New Roman"/>
                          <a:cs typeface="Arial"/>
                        </a:rPr>
                        <a:t>AGM-84</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0">
                <a:tc>
                  <a:txBody>
                    <a:bodyPr/>
                    <a:lstStyle/>
                    <a:p>
                      <a:pPr marL="457200">
                        <a:lnSpc>
                          <a:spcPct val="115000"/>
                        </a:lnSpc>
                        <a:spcAft>
                          <a:spcPts val="0"/>
                        </a:spcAft>
                      </a:pPr>
                      <a:r>
                        <a:rPr lang="en-US" sz="1100" b="1">
                          <a:latin typeface="Arial"/>
                          <a:ea typeface="Times New Roman"/>
                          <a:cs typeface="Arial"/>
                        </a:rPr>
                        <a:t>AGM-154A</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Cluster</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300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0">
                <a:tc>
                  <a:txBody>
                    <a:bodyPr/>
                    <a:lstStyle/>
                    <a:p>
                      <a:pPr marL="457200">
                        <a:lnSpc>
                          <a:spcPct val="115000"/>
                        </a:lnSpc>
                        <a:spcAft>
                          <a:spcPts val="0"/>
                        </a:spcAft>
                      </a:pPr>
                      <a:r>
                        <a:rPr lang="en-US" sz="1100" b="1">
                          <a:latin typeface="Arial"/>
                          <a:ea typeface="Times New Roman"/>
                          <a:cs typeface="Arial"/>
                        </a:rPr>
                        <a:t>AGM154C</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500Ibs, hardened targets</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200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0">
                <a:tc>
                  <a:txBody>
                    <a:bodyPr/>
                    <a:lstStyle/>
                    <a:p>
                      <a:pPr marL="457200">
                        <a:lnSpc>
                          <a:spcPct val="115000"/>
                        </a:lnSpc>
                        <a:spcAft>
                          <a:spcPts val="0"/>
                        </a:spcAft>
                      </a:pPr>
                      <a:r>
                        <a:rPr lang="en-US" sz="1100" b="1">
                          <a:latin typeface="Arial"/>
                          <a:ea typeface="Times New Roman"/>
                          <a:cs typeface="Arial"/>
                        </a:rPr>
                        <a:t>2.75” Rockets</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0">
                <a:tc>
                  <a:txBody>
                    <a:bodyPr/>
                    <a:lstStyle/>
                    <a:p>
                      <a:pPr marL="457200">
                        <a:lnSpc>
                          <a:spcPct val="115000"/>
                        </a:lnSpc>
                        <a:spcAft>
                          <a:spcPts val="0"/>
                        </a:spcAft>
                      </a:pPr>
                      <a:r>
                        <a:rPr lang="en-US" sz="1100" b="1">
                          <a:latin typeface="Arial"/>
                          <a:ea typeface="Times New Roman"/>
                          <a:cs typeface="Arial"/>
                        </a:rPr>
                        <a:t>APKWS rockets</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100</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0">
                <a:tc>
                  <a:txBody>
                    <a:bodyPr/>
                    <a:lstStyle/>
                    <a:p>
                      <a:pPr marL="457200">
                        <a:lnSpc>
                          <a:spcPct val="115000"/>
                        </a:lnSpc>
                        <a:spcAft>
                          <a:spcPts val="0"/>
                        </a:spcAft>
                      </a:pPr>
                      <a:r>
                        <a:rPr lang="en-US" sz="1100" b="1">
                          <a:latin typeface="Arial"/>
                          <a:ea typeface="Times New Roman"/>
                          <a:cs typeface="Arial"/>
                        </a:rPr>
                        <a:t>30mm gun</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a:latin typeface="Arial"/>
                          <a:ea typeface="Times New Roman"/>
                          <a:cs typeface="Arial"/>
                        </a:rPr>
                        <a:t>75</a:t>
                      </a:r>
                      <a:endParaRPr lang="nb-NO" sz="110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0">
                <a:tc>
                  <a:txBody>
                    <a:bodyPr/>
                    <a:lstStyle/>
                    <a:p>
                      <a:pPr marL="457200">
                        <a:lnSpc>
                          <a:spcPct val="115000"/>
                        </a:lnSpc>
                        <a:spcAft>
                          <a:spcPts val="0"/>
                        </a:spcAft>
                      </a:pPr>
                      <a:r>
                        <a:rPr lang="en-US" sz="1100" b="1">
                          <a:latin typeface="Arial"/>
                          <a:ea typeface="Times New Roman"/>
                          <a:cs typeface="Arial"/>
                        </a:rPr>
                        <a:t>20mm gun</a:t>
                      </a:r>
                      <a:endParaRPr lang="nb-NO" sz="1100">
                        <a:latin typeface="Arial"/>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100">
                        <a:latin typeface="Arial"/>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100" dirty="0">
                          <a:latin typeface="Arial"/>
                          <a:ea typeface="Times New Roman"/>
                          <a:cs typeface="Arial"/>
                        </a:rPr>
                        <a:t>50</a:t>
                      </a:r>
                      <a:endParaRPr lang="nb-NO" sz="1100" dirty="0">
                        <a:latin typeface="Arial"/>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bl>
          </a:graphicData>
        </a:graphic>
      </p:graphicFrame>
      <p:sp>
        <p:nvSpPr>
          <p:cNvPr id="4097" name="Rectangle 1"/>
          <p:cNvSpPr>
            <a:spLocks noChangeArrowheads="1"/>
          </p:cNvSpPr>
          <p:nvPr/>
        </p:nvSpPr>
        <p:spPr bwMode="auto">
          <a:xfrm>
            <a:off x="0" y="0"/>
            <a:ext cx="1511935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nb-NO" sz="1800" b="0" i="0" u="none" strike="noStrike" cap="none" normalizeH="0" baseline="0">
                <a:ln>
                  <a:noFill/>
                </a:ln>
                <a:solidFill>
                  <a:schemeClr val="tx1"/>
                </a:solidFill>
                <a:effectLst/>
                <a:latin typeface="Arial" pitchFamily="34" charset="0"/>
                <a:cs typeface="Arial" pitchFamily="34" charset="0"/>
              </a:rPr>
            </a:br>
            <a:endParaRPr kumimoji="0" lang="nb-NO" sz="1800" b="0" i="0" u="none" strike="noStrike" cap="none" normalizeH="0" baseline="0">
              <a:ln>
                <a:noFill/>
              </a:ln>
              <a:solidFill>
                <a:schemeClr val="tx1"/>
              </a:solidFill>
              <a:effectLst/>
              <a:latin typeface="Arial" pitchFamily="34" charset="0"/>
              <a:cs typeface="Arial" pitchFamily="34" charset="0"/>
            </a:endParaRPr>
          </a:p>
        </p:txBody>
      </p:sp>
      <p:sp>
        <p:nvSpPr>
          <p:cNvPr id="4098" name="Rectangle 2"/>
          <p:cNvSpPr>
            <a:spLocks noChangeArrowheads="1"/>
          </p:cNvSpPr>
          <p:nvPr/>
        </p:nvSpPr>
        <p:spPr bwMode="auto">
          <a:xfrm>
            <a:off x="0" y="0"/>
            <a:ext cx="4989513" cy="7938"/>
          </a:xfrm>
          <a:prstGeom prst="rect">
            <a:avLst/>
          </a:prstGeom>
          <a:solidFill>
            <a:srgbClr val="000000"/>
          </a:solidFill>
          <a:ln w="9525">
            <a:solidFill>
              <a:schemeClr val="tx1"/>
            </a:solidFill>
            <a:prstDash val="solid"/>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9" name="Rectangle 3"/>
          <p:cNvSpPr>
            <a:spLocks noChangeArrowheads="1"/>
          </p:cNvSpPr>
          <p:nvPr/>
        </p:nvSpPr>
        <p:spPr bwMode="auto">
          <a:xfrm>
            <a:off x="0" y="9959334"/>
            <a:ext cx="1511935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000" b="0" i="0" u="none" strike="noStrike" cap="none" normalizeH="0" baseline="30000" dirty="0">
                <a:ln>
                  <a:noFill/>
                </a:ln>
                <a:solidFill>
                  <a:schemeClr val="tx1"/>
                </a:solidFill>
                <a:effectLst/>
                <a:latin typeface="Arial" pitchFamily="34" charset="0"/>
                <a:ea typeface="Times New Roman" pitchFamily="18" charset="0"/>
                <a:cs typeface="Times New Roman" pitchFamily="18" charset="0"/>
                <a:hlinkClick r:id="" action="ppaction://noaction"/>
              </a:rPr>
              <a:t>[</a:t>
            </a:r>
            <a:r>
              <a:rPr kumimoji="0" lang="en-GB" sz="1000" b="0" i="0" u="none" strike="noStrike" cap="none" normalizeH="0" baseline="30000" dirty="0" bmk="">
                <a:ln>
                  <a:noFill/>
                </a:ln>
                <a:solidFill>
                  <a:schemeClr val="tx1"/>
                </a:solidFill>
                <a:effectLst/>
                <a:latin typeface="Arial" pitchFamily="34" charset="0"/>
                <a:ea typeface="Times New Roman" pitchFamily="18" charset="0"/>
                <a:cs typeface="Times New Roman" pitchFamily="18" charset="0"/>
                <a:hlinkClick r:id="" action="ppaction://noaction"/>
              </a:rPr>
              <a:t>1]</a:t>
            </a:r>
            <a:r>
              <a:rPr kumimoji="0" lang="en-GB"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PI: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Probability</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of</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 </a:t>
            </a:r>
            <a:r>
              <a:rPr kumimoji="0" lang="nb-NO" sz="1000" b="0" i="0" u="none" strike="noStrike" cap="none" normalizeH="0" baseline="0" dirty="0" err="1">
                <a:ln>
                  <a:noFill/>
                </a:ln>
                <a:solidFill>
                  <a:schemeClr val="tx1"/>
                </a:solidFill>
                <a:effectLst/>
                <a:latin typeface="Arial" pitchFamily="34" charset="0"/>
                <a:ea typeface="Times New Roman" pitchFamily="18" charset="0"/>
                <a:cs typeface="Times New Roman" pitchFamily="18" charset="0"/>
              </a:rPr>
              <a:t>incapacitation</a:t>
            </a:r>
            <a:r>
              <a:rPr kumimoji="0" lang="nb-NO"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a:t>
            </a:r>
            <a:r>
              <a:rPr kumimoji="0" lang="en-GB" sz="1000" b="0" i="0" u="none" strike="noStrike" cap="none" normalizeH="0" baseline="0" dirty="0">
                <a:ln>
                  <a:noFill/>
                </a:ln>
                <a:solidFill>
                  <a:schemeClr val="tx1"/>
                </a:solidFill>
                <a:effectLst/>
                <a:latin typeface="Arial" pitchFamily="34" charset="0"/>
                <a:ea typeface="Times New Roman" pitchFamily="18" charset="0"/>
                <a:cs typeface="Times New Roman" pitchFamily="18" charset="0"/>
              </a:rPr>
              <a:t>Incapacitation means that a soldier that stands within this distance is physically unable to function in an assault within a 5-minute period after an attack. Ordnance delivery inside 0.1% PI distances will be considered as “danger close.”</a:t>
            </a:r>
            <a:endParaRPr kumimoji="0" lang="en-GB"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27"/>
          <p:cNvSpPr txBox="1"/>
          <p:nvPr/>
        </p:nvSpPr>
        <p:spPr>
          <a:xfrm>
            <a:off x="0" y="51275"/>
            <a:ext cx="15120000" cy="188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4200" b="1" u="sng" dirty="0">
                <a:solidFill>
                  <a:schemeClr val="dk1"/>
                </a:solidFill>
              </a:rPr>
              <a:t>COLLATERAL DAMAGE ESTIMATION</a:t>
            </a:r>
            <a:endParaRPr sz="4200" b="1" u="sng">
              <a:solidFill>
                <a:schemeClr val="dk1"/>
              </a:solidFill>
            </a:endParaRPr>
          </a:p>
        </p:txBody>
      </p:sp>
      <p:pic>
        <p:nvPicPr>
          <p:cNvPr id="276" name="Google Shape;276;p27">
            <a:hlinkClick r:id="rId3"/>
          </p:cNvPr>
          <p:cNvPicPr preferRelativeResize="0"/>
          <p:nvPr/>
        </p:nvPicPr>
        <p:blipFill rotWithShape="1">
          <a:blip r:embed="rId4">
            <a:alphaModFix/>
          </a:blip>
          <a:srcRect r="-2532" b="-2501"/>
          <a:stretch/>
        </p:blipFill>
        <p:spPr>
          <a:xfrm>
            <a:off x="435875" y="164488"/>
            <a:ext cx="1575817" cy="1620000"/>
          </a:xfrm>
          <a:prstGeom prst="rect">
            <a:avLst/>
          </a:prstGeom>
          <a:noFill/>
          <a:ln>
            <a:noFill/>
          </a:ln>
        </p:spPr>
      </p:pic>
      <p:sp>
        <p:nvSpPr>
          <p:cNvPr id="4" name="TekstSylinder 3"/>
          <p:cNvSpPr txBox="1"/>
          <p:nvPr/>
        </p:nvSpPr>
        <p:spPr>
          <a:xfrm>
            <a:off x="749030" y="4231532"/>
            <a:ext cx="7023370" cy="3539430"/>
          </a:xfrm>
          <a:prstGeom prst="rect">
            <a:avLst/>
          </a:prstGeom>
          <a:noFill/>
        </p:spPr>
        <p:txBody>
          <a:bodyPr wrap="square" rtlCol="0">
            <a:spAutoFit/>
          </a:bodyPr>
          <a:lstStyle/>
          <a:p>
            <a:pPr lvl="0"/>
            <a:r>
              <a:rPr lang="nb-NO" dirty="0" err="1"/>
              <a:t>Collateral</a:t>
            </a:r>
            <a:r>
              <a:rPr lang="nb-NO" dirty="0"/>
              <a:t> </a:t>
            </a:r>
            <a:r>
              <a:rPr lang="nb-NO" dirty="0" err="1"/>
              <a:t>Effect</a:t>
            </a:r>
            <a:r>
              <a:rPr lang="nb-NO" dirty="0"/>
              <a:t> Radius (CER) is </a:t>
            </a:r>
            <a:r>
              <a:rPr lang="nb-NO" dirty="0" err="1"/>
              <a:t>based</a:t>
            </a:r>
            <a:r>
              <a:rPr lang="nb-NO" dirty="0"/>
              <a:t> in Risk </a:t>
            </a:r>
            <a:r>
              <a:rPr lang="nb-NO" dirty="0" err="1"/>
              <a:t>Estimates</a:t>
            </a:r>
            <a:r>
              <a:rPr lang="nb-NO" dirty="0"/>
              <a:t> </a:t>
            </a:r>
            <a:r>
              <a:rPr lang="nb-NO" dirty="0" err="1"/>
              <a:t>Distances</a:t>
            </a:r>
            <a:r>
              <a:rPr lang="nb-NO" dirty="0"/>
              <a:t>.</a:t>
            </a:r>
          </a:p>
          <a:p>
            <a:pPr lvl="0"/>
            <a:r>
              <a:rPr lang="nb-NO" dirty="0"/>
              <a:t>CER is </a:t>
            </a:r>
            <a:r>
              <a:rPr lang="nb-NO" dirty="0" err="1"/>
              <a:t>based</a:t>
            </a:r>
            <a:r>
              <a:rPr lang="nb-NO" dirty="0"/>
              <a:t> </a:t>
            </a:r>
            <a:r>
              <a:rPr lang="nb-NO" dirty="0" err="1"/>
              <a:t>on</a:t>
            </a:r>
            <a:r>
              <a:rPr lang="nb-NO" dirty="0"/>
              <a:t> Risk </a:t>
            </a:r>
            <a:r>
              <a:rPr lang="nb-NO" dirty="0" err="1"/>
              <a:t>Estimate</a:t>
            </a:r>
            <a:r>
              <a:rPr lang="nb-NO" dirty="0"/>
              <a:t> </a:t>
            </a:r>
            <a:r>
              <a:rPr lang="nb-NO" dirty="0" err="1"/>
              <a:t>Distances</a:t>
            </a:r>
            <a:r>
              <a:rPr lang="nb-NO" dirty="0"/>
              <a:t> (</a:t>
            </a:r>
            <a:r>
              <a:rPr lang="nb-NO" dirty="0" err="1"/>
              <a:t>listed</a:t>
            </a:r>
            <a:r>
              <a:rPr lang="nb-NO" dirty="0"/>
              <a:t> in SPINS).</a:t>
            </a:r>
          </a:p>
          <a:p>
            <a:pPr lvl="0"/>
            <a:endParaRPr lang="nb-NO" dirty="0"/>
          </a:p>
          <a:p>
            <a:pPr lvl="0"/>
            <a:r>
              <a:rPr lang="nb-NO" b="1" dirty="0"/>
              <a:t>CDE 1</a:t>
            </a:r>
            <a:r>
              <a:rPr lang="nb-NO" dirty="0"/>
              <a:t>: </a:t>
            </a:r>
            <a:r>
              <a:rPr lang="nb-NO" dirty="0" err="1"/>
              <a:t>Military</a:t>
            </a:r>
            <a:r>
              <a:rPr lang="nb-NO" dirty="0"/>
              <a:t> target (legal </a:t>
            </a:r>
            <a:r>
              <a:rPr lang="nb-NO" dirty="0" err="1"/>
              <a:t>military</a:t>
            </a:r>
            <a:r>
              <a:rPr lang="nb-NO" dirty="0"/>
              <a:t> target), </a:t>
            </a:r>
            <a:r>
              <a:rPr lang="nb-NO" dirty="0" err="1"/>
              <a:t>no</a:t>
            </a:r>
            <a:r>
              <a:rPr lang="nb-NO" dirty="0"/>
              <a:t> </a:t>
            </a:r>
            <a:r>
              <a:rPr lang="nb-NO" dirty="0" err="1"/>
              <a:t>restriction</a:t>
            </a:r>
            <a:endParaRPr lang="nb-NO" dirty="0"/>
          </a:p>
          <a:p>
            <a:pPr lvl="0"/>
            <a:r>
              <a:rPr lang="nb-NO" b="1" dirty="0"/>
              <a:t>CDE 2</a:t>
            </a:r>
            <a:r>
              <a:rPr lang="nb-NO" dirty="0"/>
              <a:t>: </a:t>
            </a:r>
            <a:r>
              <a:rPr lang="nb-NO" dirty="0" err="1"/>
              <a:t>Structure</a:t>
            </a:r>
            <a:r>
              <a:rPr lang="nb-NO" dirty="0"/>
              <a:t> </a:t>
            </a:r>
            <a:r>
              <a:rPr lang="nb-NO" dirty="0" err="1"/>
              <a:t>within</a:t>
            </a:r>
            <a:r>
              <a:rPr lang="nb-NO" dirty="0"/>
              <a:t> CER, </a:t>
            </a:r>
            <a:r>
              <a:rPr lang="nb-NO" dirty="0" err="1"/>
              <a:t>but</a:t>
            </a:r>
            <a:r>
              <a:rPr lang="nb-NO" dirty="0"/>
              <a:t> </a:t>
            </a:r>
            <a:r>
              <a:rPr lang="nb-NO" dirty="0" err="1"/>
              <a:t>no</a:t>
            </a:r>
            <a:r>
              <a:rPr lang="nb-NO" dirty="0"/>
              <a:t> </a:t>
            </a:r>
            <a:r>
              <a:rPr lang="nb-NO" dirty="0" err="1"/>
              <a:t>collateral</a:t>
            </a:r>
            <a:r>
              <a:rPr lang="nb-NO" dirty="0"/>
              <a:t> </a:t>
            </a:r>
            <a:r>
              <a:rPr lang="nb-NO" dirty="0" err="1"/>
              <a:t>issue</a:t>
            </a:r>
            <a:r>
              <a:rPr lang="nb-NO" dirty="0"/>
              <a:t> (</a:t>
            </a:r>
            <a:r>
              <a:rPr lang="nb-NO" dirty="0" err="1"/>
              <a:t>storage</a:t>
            </a:r>
            <a:r>
              <a:rPr lang="nb-NO" dirty="0"/>
              <a:t>, hut, </a:t>
            </a:r>
            <a:r>
              <a:rPr lang="nb-NO" dirty="0" err="1"/>
              <a:t>small</a:t>
            </a:r>
            <a:r>
              <a:rPr lang="nb-NO" dirty="0"/>
              <a:t> </a:t>
            </a:r>
            <a:r>
              <a:rPr lang="nb-NO" dirty="0" err="1"/>
              <a:t>construction</a:t>
            </a:r>
            <a:r>
              <a:rPr lang="nb-NO" dirty="0"/>
              <a:t>). No </a:t>
            </a:r>
            <a:r>
              <a:rPr lang="nb-NO" dirty="0" err="1"/>
              <a:t>cluster</a:t>
            </a:r>
            <a:r>
              <a:rPr lang="nb-NO" dirty="0"/>
              <a:t> </a:t>
            </a:r>
            <a:r>
              <a:rPr lang="nb-NO" dirty="0" err="1"/>
              <a:t>munitions</a:t>
            </a:r>
            <a:r>
              <a:rPr lang="nb-NO" dirty="0"/>
              <a:t> </a:t>
            </a:r>
            <a:r>
              <a:rPr lang="nb-NO" dirty="0" err="1"/>
              <a:t>allowed</a:t>
            </a:r>
            <a:r>
              <a:rPr lang="nb-NO" dirty="0"/>
              <a:t> and FAH </a:t>
            </a:r>
            <a:r>
              <a:rPr lang="nb-NO" dirty="0" err="1"/>
              <a:t>need</a:t>
            </a:r>
            <a:r>
              <a:rPr lang="nb-NO" dirty="0"/>
              <a:t> to </a:t>
            </a:r>
            <a:r>
              <a:rPr lang="nb-NO" dirty="0" err="1"/>
              <a:t>take</a:t>
            </a:r>
            <a:r>
              <a:rPr lang="nb-NO" dirty="0"/>
              <a:t> </a:t>
            </a:r>
            <a:r>
              <a:rPr lang="nb-NO" dirty="0" err="1"/>
              <a:t>structure</a:t>
            </a:r>
            <a:r>
              <a:rPr lang="nb-NO" dirty="0"/>
              <a:t> in </a:t>
            </a:r>
            <a:r>
              <a:rPr lang="nb-NO" dirty="0" err="1"/>
              <a:t>minde</a:t>
            </a:r>
            <a:r>
              <a:rPr lang="nb-NO" dirty="0"/>
              <a:t> to </a:t>
            </a:r>
            <a:r>
              <a:rPr lang="nb-NO" dirty="0" err="1"/>
              <a:t>avoid</a:t>
            </a:r>
            <a:r>
              <a:rPr lang="nb-NO" dirty="0"/>
              <a:t> </a:t>
            </a:r>
            <a:r>
              <a:rPr lang="nb-NO" dirty="0" err="1"/>
              <a:t>damage</a:t>
            </a:r>
            <a:r>
              <a:rPr lang="nb-NO" dirty="0"/>
              <a:t>. </a:t>
            </a:r>
          </a:p>
          <a:p>
            <a:pPr lvl="0"/>
            <a:r>
              <a:rPr lang="nb-NO" b="1" dirty="0"/>
              <a:t>CDE 3</a:t>
            </a:r>
            <a:r>
              <a:rPr lang="nb-NO" dirty="0"/>
              <a:t>: </a:t>
            </a:r>
            <a:r>
              <a:rPr lang="nb-NO" dirty="0" err="1"/>
              <a:t>Civilian</a:t>
            </a:r>
            <a:r>
              <a:rPr lang="nb-NO" dirty="0"/>
              <a:t> </a:t>
            </a:r>
            <a:r>
              <a:rPr lang="nb-NO" dirty="0" err="1"/>
              <a:t>structure</a:t>
            </a:r>
            <a:r>
              <a:rPr lang="nb-NO" dirty="0"/>
              <a:t> </a:t>
            </a:r>
            <a:r>
              <a:rPr lang="nb-NO" dirty="0" err="1"/>
              <a:t>within</a:t>
            </a:r>
            <a:r>
              <a:rPr lang="nb-NO" dirty="0"/>
              <a:t> CER  (</a:t>
            </a:r>
            <a:r>
              <a:rPr lang="nb-NO" dirty="0" err="1"/>
              <a:t>Residential</a:t>
            </a:r>
            <a:r>
              <a:rPr lang="nb-NO" dirty="0"/>
              <a:t> </a:t>
            </a:r>
            <a:r>
              <a:rPr lang="nb-NO" dirty="0" err="1"/>
              <a:t>buildings</a:t>
            </a:r>
            <a:r>
              <a:rPr lang="nb-NO" dirty="0"/>
              <a:t>, </a:t>
            </a:r>
            <a:r>
              <a:rPr lang="nb-NO" dirty="0" err="1"/>
              <a:t>houses</a:t>
            </a:r>
            <a:r>
              <a:rPr lang="nb-NO" dirty="0"/>
              <a:t>, </a:t>
            </a:r>
            <a:r>
              <a:rPr lang="nb-NO" dirty="0" err="1"/>
              <a:t>structures</a:t>
            </a:r>
            <a:r>
              <a:rPr lang="nb-NO" dirty="0"/>
              <a:t> </a:t>
            </a:r>
            <a:r>
              <a:rPr lang="nb-NO" dirty="0" err="1"/>
              <a:t>that</a:t>
            </a:r>
            <a:r>
              <a:rPr lang="nb-NO" dirty="0"/>
              <a:t> </a:t>
            </a:r>
            <a:r>
              <a:rPr lang="nb-NO" dirty="0" err="1"/>
              <a:t>can</a:t>
            </a:r>
            <a:r>
              <a:rPr lang="nb-NO" dirty="0"/>
              <a:t> </a:t>
            </a:r>
            <a:r>
              <a:rPr lang="nb-NO" dirty="0" err="1"/>
              <a:t>cause</a:t>
            </a:r>
            <a:r>
              <a:rPr lang="nb-NO" dirty="0"/>
              <a:t> </a:t>
            </a:r>
            <a:r>
              <a:rPr lang="nb-NO" dirty="0" err="1"/>
              <a:t>secondary</a:t>
            </a:r>
            <a:r>
              <a:rPr lang="nb-NO" dirty="0"/>
              <a:t> </a:t>
            </a:r>
            <a:r>
              <a:rPr lang="nb-NO" dirty="0" err="1"/>
              <a:t>explosion</a:t>
            </a:r>
            <a:r>
              <a:rPr lang="nb-NO" dirty="0"/>
              <a:t>, </a:t>
            </a:r>
            <a:r>
              <a:rPr lang="nb-NO" dirty="0" err="1"/>
              <a:t>such</a:t>
            </a:r>
            <a:r>
              <a:rPr lang="nb-NO" dirty="0"/>
              <a:t> as </a:t>
            </a:r>
            <a:r>
              <a:rPr lang="nb-NO" dirty="0" err="1"/>
              <a:t>fuel</a:t>
            </a:r>
            <a:r>
              <a:rPr lang="nb-NO" dirty="0"/>
              <a:t> </a:t>
            </a:r>
            <a:r>
              <a:rPr lang="nb-NO" dirty="0" err="1"/>
              <a:t>storages</a:t>
            </a:r>
            <a:r>
              <a:rPr lang="nb-NO" dirty="0"/>
              <a:t>), </a:t>
            </a:r>
            <a:r>
              <a:rPr lang="nb-NO" dirty="0" err="1"/>
              <a:t>Precision</a:t>
            </a:r>
            <a:r>
              <a:rPr lang="nb-NO" dirty="0"/>
              <a:t> </a:t>
            </a:r>
            <a:r>
              <a:rPr lang="nb-NO" dirty="0" err="1"/>
              <a:t>guided</a:t>
            </a:r>
            <a:r>
              <a:rPr lang="nb-NO" dirty="0"/>
              <a:t> </a:t>
            </a:r>
            <a:r>
              <a:rPr lang="nb-NO" dirty="0" err="1"/>
              <a:t>munitons</a:t>
            </a:r>
            <a:r>
              <a:rPr lang="nb-NO" dirty="0"/>
              <a:t> </a:t>
            </a:r>
            <a:r>
              <a:rPr lang="nb-NO" dirty="0" err="1"/>
              <a:t>neededl</a:t>
            </a:r>
            <a:endParaRPr lang="nb-NO" dirty="0"/>
          </a:p>
          <a:p>
            <a:pPr lvl="0"/>
            <a:r>
              <a:rPr lang="nb-NO" b="1" dirty="0"/>
              <a:t>CDE 4: </a:t>
            </a:r>
            <a:r>
              <a:rPr lang="nb-NO" dirty="0" err="1"/>
              <a:t>Civilian</a:t>
            </a:r>
            <a:r>
              <a:rPr lang="nb-NO" dirty="0"/>
              <a:t> </a:t>
            </a:r>
            <a:r>
              <a:rPr lang="nb-NO" dirty="0" err="1"/>
              <a:t>structure</a:t>
            </a:r>
            <a:r>
              <a:rPr lang="nb-NO" dirty="0"/>
              <a:t> </a:t>
            </a:r>
            <a:r>
              <a:rPr lang="nb-NO" dirty="0" err="1"/>
              <a:t>within</a:t>
            </a:r>
            <a:r>
              <a:rPr lang="nb-NO" dirty="0"/>
              <a:t> CER and </a:t>
            </a:r>
            <a:r>
              <a:rPr lang="nb-NO" dirty="0" err="1"/>
              <a:t>likely</a:t>
            </a:r>
            <a:r>
              <a:rPr lang="nb-NO" dirty="0"/>
              <a:t> </a:t>
            </a:r>
            <a:r>
              <a:rPr lang="nb-NO" dirty="0" err="1"/>
              <a:t>damaged</a:t>
            </a:r>
            <a:r>
              <a:rPr lang="nb-NO" dirty="0"/>
              <a:t> by </a:t>
            </a:r>
            <a:r>
              <a:rPr lang="nb-NO" dirty="0" err="1"/>
              <a:t>attack</a:t>
            </a:r>
            <a:r>
              <a:rPr lang="nb-NO" dirty="0"/>
              <a:t>. </a:t>
            </a:r>
            <a:r>
              <a:rPr lang="nb-NO" dirty="0" err="1"/>
              <a:t>Damages</a:t>
            </a:r>
            <a:r>
              <a:rPr lang="nb-NO" dirty="0"/>
              <a:t> </a:t>
            </a:r>
            <a:r>
              <a:rPr lang="nb-NO" dirty="0" err="1"/>
              <a:t>minimized</a:t>
            </a:r>
            <a:r>
              <a:rPr lang="nb-NO" dirty="0"/>
              <a:t> by FAH and </a:t>
            </a:r>
            <a:r>
              <a:rPr lang="nb-NO" dirty="0" err="1"/>
              <a:t>delayed</a:t>
            </a:r>
            <a:r>
              <a:rPr lang="nb-NO" dirty="0"/>
              <a:t> </a:t>
            </a:r>
            <a:r>
              <a:rPr lang="nb-NO" dirty="0" err="1"/>
              <a:t>fuze</a:t>
            </a:r>
            <a:r>
              <a:rPr lang="nb-NO" dirty="0"/>
              <a:t> settings. JFACC </a:t>
            </a:r>
            <a:r>
              <a:rPr lang="nb-NO" dirty="0" err="1"/>
              <a:t>approval</a:t>
            </a:r>
            <a:r>
              <a:rPr lang="nb-NO" dirty="0"/>
              <a:t> </a:t>
            </a:r>
            <a:r>
              <a:rPr lang="nb-NO" dirty="0" err="1"/>
              <a:t>agency</a:t>
            </a:r>
            <a:r>
              <a:rPr lang="nb-NO" dirty="0"/>
              <a:t> for CDE 4 targets.  (AWACS </a:t>
            </a:r>
            <a:r>
              <a:rPr lang="nb-NO" dirty="0" err="1"/>
              <a:t>delegated</a:t>
            </a:r>
            <a:r>
              <a:rPr lang="nb-NO" dirty="0"/>
              <a:t> during </a:t>
            </a:r>
            <a:r>
              <a:rPr lang="nb-NO" dirty="0" err="1"/>
              <a:t>missions</a:t>
            </a:r>
            <a:r>
              <a:rPr lang="nb-NO" dirty="0"/>
              <a:t>.</a:t>
            </a:r>
          </a:p>
          <a:p>
            <a:pPr lvl="0"/>
            <a:r>
              <a:rPr lang="nb-NO" b="1" dirty="0"/>
              <a:t>CDE 5: </a:t>
            </a:r>
            <a:r>
              <a:rPr lang="nb-NO" dirty="0" err="1"/>
              <a:t>Civilian</a:t>
            </a:r>
            <a:r>
              <a:rPr lang="nb-NO" dirty="0"/>
              <a:t> </a:t>
            </a:r>
            <a:r>
              <a:rPr lang="nb-NO" dirty="0" err="1"/>
              <a:t>casualites</a:t>
            </a:r>
            <a:r>
              <a:rPr lang="nb-NO" dirty="0"/>
              <a:t> </a:t>
            </a:r>
            <a:r>
              <a:rPr lang="nb-NO" dirty="0" err="1"/>
              <a:t>expected</a:t>
            </a:r>
            <a:r>
              <a:rPr lang="nb-NO" dirty="0"/>
              <a:t>, CJTF-HQ </a:t>
            </a:r>
            <a:r>
              <a:rPr lang="nb-NO" dirty="0" err="1"/>
              <a:t>approval</a:t>
            </a:r>
            <a:r>
              <a:rPr lang="nb-NO" dirty="0"/>
              <a:t> </a:t>
            </a:r>
            <a:r>
              <a:rPr lang="nb-NO" dirty="0" err="1"/>
              <a:t>needed</a:t>
            </a:r>
            <a:r>
              <a:rPr lang="nb-NO" dirty="0"/>
              <a:t> for striking CDE 5 targets.</a:t>
            </a:r>
          </a:p>
          <a:p>
            <a:endParaRPr lang="en-US" dirty="0"/>
          </a:p>
        </p:txBody>
      </p:sp>
    </p:spTree>
  </p:cSld>
  <p:clrMapOvr>
    <a:masterClrMapping/>
  </p:clrMapOvr>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1052</TotalTime>
  <Words>2713</Words>
  <Application>Microsoft Office PowerPoint</Application>
  <PresentationFormat>Egyéni</PresentationFormat>
  <Paragraphs>557</Paragraphs>
  <Slides>21</Slides>
  <Notes>20</Notes>
  <HiddenSlides>12</HiddenSlides>
  <MMClips>0</MMClips>
  <ScaleCrop>false</ScaleCrop>
  <HeadingPairs>
    <vt:vector size="6" baseType="variant">
      <vt:variant>
        <vt:lpstr>Használt betűtípusok</vt:lpstr>
      </vt:variant>
      <vt:variant>
        <vt:i4>2</vt:i4>
      </vt:variant>
      <vt:variant>
        <vt:lpstr>Téma</vt:lpstr>
      </vt:variant>
      <vt:variant>
        <vt:i4>1</vt:i4>
      </vt:variant>
      <vt:variant>
        <vt:lpstr>Diacímek</vt:lpstr>
      </vt:variant>
      <vt:variant>
        <vt:i4>21</vt:i4>
      </vt:variant>
    </vt:vector>
  </HeadingPairs>
  <TitlesOfParts>
    <vt:vector size="24" baseType="lpstr">
      <vt:lpstr>Arial</vt:lpstr>
      <vt:lpstr>Calibri</vt:lpstr>
      <vt:lpstr>Simple Light</vt:lpstr>
      <vt:lpstr>TARGET FOLDER  SRNTGT088  ARMY Fuel Storage (2nd Corps)</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BAKCUP SLIDES AFTER THIS</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lpstr>PowerPoint-bemutató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SRNTGT091 Kovdor Ammunition Factory</dc:title>
  <dc:subject>SRNTGT091 Kovdor Ammunition Factory</dc:subject>
  <dc:creator>132nd Virtual Wing</dc:creator>
  <cp:lastModifiedBy>Levente Tóth</cp:lastModifiedBy>
  <cp:revision>73</cp:revision>
  <dcterms:modified xsi:type="dcterms:W3CDTF">2026-10-15T11:53:51Z</dcterms:modified>
</cp:coreProperties>
</file>